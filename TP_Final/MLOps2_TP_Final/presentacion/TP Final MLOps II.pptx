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IBM Plex Sans" panose="020B0503050203000203" pitchFamily="34" charset="0"/>
      <p:regular r:id="rId18"/>
      <p:bold r:id="rId19"/>
      <p:italic r:id="rId20"/>
      <p:boldItalic r:id="rId21"/>
    </p:embeddedFont>
    <p:embeddedFont>
      <p:font typeface="JetBrains Mono"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E3D7B9-5B47-45D5-BAFA-1578B30BF9EB}">
  <a:tblStyle styleId="{45E3D7B9-5B47-45D5-BAFA-1578B30BF9E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25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(30 s) Presentarme. El TP toma el modelo que ya tenía de MLOps 1 y le suma, una clase por vez, todo lo de esta materia: cuatro formas de pedirle una predicción, entrenamiento federado, Data Lake y seguridad. La idea que recorre todo: el modelo es uno solo; lo que cambia es cómo se llega a él.</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El punto de partida es el TP final de MLOps 1: un XGBoost que predice el precio de autos usados del dataset Car Dekho, con un pipeline de Airflow que entrena, MLflow como registro de modelos, MinIO como almacenamiento y una API REST. Ese núcleo no se tocó en todo el TP: ningún archivo de MLOps1_final cambió. Todo lo de MLOps 2 se suma alrededor.</a:t>
            </a:r>
            <a:endParaRPr/>
          </a:p>
        </p:txBody>
      </p:sp>
      <p:sp>
        <p:nvSpPr>
          <p:cNvPr id="30" name="Google Shape;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Este es el diagrama del repo. Arriba el núcleo que no cambia. Abajo, la franja de seguridad que atraviesa las cuatro capas de acceso; cada capa sirve a un tipo de cliente distinto. Debajo, los dos bloques que no son puertas de entrada: el federado, que es otra forma de entrenar, y el Data Lake, donde quedan guardados los datos, las predicciones del streaming y la auditoría. Voy a recorrerlo de arriba hacia abajo.</a:t>
            </a:r>
            <a:endParaRPr/>
          </a:p>
        </p:txBody>
      </p:sp>
      <p:sp>
        <p:nvSpPr>
          <p:cNvPr id="52" name="Google Shape;5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Cuatro reglas. Uno: no reimplementar ni copiar; por ejemplo, REST es la misma API de MLOps 1, y el predict.py de MLOps 2 reemplaza al original solo al construir la imagen. Dos: este compose se conecta a la red externa de MLOps 1 en lugar de levantar otro MLflow u otro MinIO. Tres: cada clase fue un paso con su commit. Cuatro: todo reproducible con docker compose, y lo que se corre a mano está separado en profiles.</a:t>
            </a:r>
            <a:endParaRPr/>
          </a:p>
        </p:txBody>
      </p:sp>
      <p:sp>
        <p:nvSpPr>
          <p:cNvPr id="65" name="Google Shape;6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Las cuatro capas de las clases 1 a 4. REST para terceros, que no negocian el protocolo. GraphQL para un dashboard interno que arma su vista con una sola consulta. gRPC para que otro servicio llame al modelo a alto volumen, con contrato tipado. Y streaming, donde no hay un cliente que pregunte: el consumidor puntúa cada evento que llega. Lo importante: las cuatro usan exactamente el mismo modelo y el mismo código de predicción.</a:t>
            </a:r>
            <a:endParaRPr/>
          </a:p>
        </p:txBody>
      </p:sp>
      <p:sp>
        <p:nvSpPr>
          <p:cNvPr id="84" name="Google Shape;8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15 s) REST no es una capa nueva: es la misma API de MLOps 1, expuesta en el 8010 para convivir con la original. Su Dockerfile solo reemplaza predict.py y, desde la clase 7, la sirve envuelta por la seguridad, sin tocar su código. GraphQL sí es nuevo: en el mini-TP 2 vimos que una vista que en REST pide varias llamadas, en GraphQL es una sola consulta con los campos justos. En el TP además consulta el lake: las predicciones que guardó el streaming y, para admin, la auditoría.</a:t>
            </a:r>
            <a:endParaRPr/>
          </a:p>
        </p:txBody>
      </p:sp>
      <p:sp>
        <p:nvSpPr>
          <p:cNvPr id="94" name="Google Shape;9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15 s) gRPC: el .proto tiene los mismos campos que el esquema de REST, y además del método unario hay uno de server streaming para mandar un lote. Un detalle de la vida real: tuve que fijar grpcio en 1.62 porque las versiones nuevas piden protobuf 5 y MLflow 2.13 exige protobuf menor a 5. Streaming: un productor de prueba publica 2000 autos y a mitad de camino cambia la distribución de km; el consumidor lo detecta con la media por ventana y dispara la alerta de drift. Desde la clase 6 cada evento queda en el lake, y el offset se confirma después de guardar.</a:t>
            </a:r>
            <a:endParaRPr/>
          </a:p>
        </p:txBody>
      </p:sp>
      <p:sp>
        <p:nvSpPr>
          <p:cNvPr id="111" name="Google Shape;11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30 s) El federado no es otra puerta: es otra forma de entrenar, para el caso en que cada concesionaria no quiere compartir sus datos. Servidor y clientes corren en contenedores separados y se hablan por la red con Flower. Una mejora respecto del mini-TP: el esquema común se arma sin ver filas, solo con conteos y sumas. Resultados: con datos IID iguala al centralizado; non-IID cuesta muy poco; y el ruido de privacidad diferencial casi duplica el error, que es el precio de la privacidad. Se registra con otro nombre para no pisar el modelo en producción.</a:t>
            </a:r>
            <a:endParaRPr/>
          </a:p>
        </p:txBody>
      </p:sp>
      <p:sp>
        <p:nvSpPr>
          <p:cNvPr id="128" name="Google Shape;12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El Data Lake se arma sobre el mismo MinIO, con zonas raw y curated. El streaming guarda cada evento con su predicción en raw separado por fecha; antes se perdían cuando Redpanda vencía la retención. La decisión importante: en el mini-TP 6 el modelo vivía en el lake con un archivo que decía la versión en producción. Acá no lo repetí, porque MLflow ya hace eso, ya guarda los modelos en MinIO, y dos registros pueden contradecirse. Lo que sí agregué: la metadata del modelo se guarda una vez en el run de MLflow, y las capas la leen al arrancar en lugar de recalcularla.</a:t>
            </a:r>
            <a:endParaRPr/>
          </a:p>
        </p:txBody>
      </p:sp>
      <p:sp>
        <p:nvSpPr>
          <p:cNvPr id="142" name="Google Shape;14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30 s) La clase 7 aseguró todo con SAIF. La idea central es la coherencia: las cuatro capas sirven el mismo modelo, así que si una queda más débil, el atacante entra por esa. Por eso hay un único módulo de seguridad que se copia en cada imagen, y cada capa lo aplica a su manera: un middleware alrededor de la API de MLOps 1 sin tocarla, permisos por campo y límites de costo en GraphQL, un interceptor y TLS en gRPC, y firma HMAC con cuarentena en streaming. Para el lake, cada servicio dejó de usar la credencial de administrador.</a:t>
            </a:r>
            <a:endParaRPr/>
          </a:p>
        </p:txBody>
      </p:sp>
      <p:sp>
        <p:nvSpPr>
          <p:cNvPr id="156" name="Google Shape;15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15 s) Un modelo guardado es un archivo que se ejecuta al cargarlo: si alguien lo reemplaza, puede manipular precios o correr código. Entonces lake-preparar registra la huella SHA-256 de los archivos del modelo en su propio run de MLflow, y cada capa la recalcula antes de cargarlo. La pregunta obvia es por qué el atacante no cambia también la huella: porque las capas no pueden escribir en el bucket de modelos. La protección es la combinación de las dos cosas. En desarrollo, EXIGIR_INTEGRIDAD=false deja cargar un modelo todavía sin huella; en producción no se carga.</a:t>
            </a:r>
            <a:endParaRPr/>
          </a:p>
        </p:txBody>
      </p:sp>
      <p:sp>
        <p:nvSpPr>
          <p:cNvPr id="165" name="Google Shape;16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15 s) La seguridad no se afirma: se prueba. Hay 84 tests unitarios del módulo compartido, y un demo de punta a punta que ataca las capas levantadas con tokens vencidos, roles sin permiso, datos absurdos, consultas costosas, canales sin TLS y eventos falsos: 28 chequeos. Al final pedí una revisión independiente del código y encontró 4 problemas reales; cada uno se corrigió con un test que primero falló. El más interesante: una consulta GraphQL de pocos cientos de bytes, con fragmentos repetidos, hacía que la validación tardara un tiempo exponencial.</a:t>
            </a:r>
            <a:endParaRPr/>
          </a:p>
        </p:txBody>
      </p:sp>
      <p:sp>
        <p:nvSpPr>
          <p:cNvPr id="184" name="Google Shape;18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(8 min) Demo grabada. El video tiene su propio audio: no hace falta narrar, solo presentarlo. Recorre el TP en el orden de la materia: capas de acceso (REST, GraphQL, gRPC, streaming), federado, Data Lake y seguridad, que termina con los 28 ataques frenados. Antes de la presentación: probar el audio en la sala. Si el video no arranca desde la diapositiva, abrir presentacion/demo/demo_editado.mp4 aparte.</a:t>
            </a:r>
          </a:p>
        </p:txBody>
      </p:sp>
      <p:sp>
        <p:nvSpPr>
          <p:cNvPr id="200" name="Google Shape;20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 min 15 s) Balance. Lo que volvería a hacer: no duplicar el registro de modelos; reusar la API de MLOps 1 envolviéndola en vez de reescribirla; tener un solo módulo de seguridad para que las capas no se desincronicen; y fijar versiones donde había incompatibilidades reales, como protobuf entre MLflow, gRPC y Flower. Límites que dejo explícitos, y que están documentados en el README: el federado todavía no tiene la agregación robusta del mini-TP 7; Airflow y MLflow, que son de MLOps 1, siguen con la credencial de administrador; el límite de pedidos existe solo en REST; y los secretos irían a un gestor como Vault en producción.</a:t>
            </a:r>
            <a:endParaRPr/>
          </a:p>
        </p:txBody>
      </p:sp>
      <p:sp>
        <p:nvSpPr>
          <p:cNvPr id="214" name="Google Shape;21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(30 s) Cierro con la idea del principio: un solo modelo, siete clases de formas de servirlo, entrenarlo, guardarlo y protegerlo, todo reproducible con docker compose sobre el stack de MLOps 1. El repositorio tiene el README con cada paso y el diseño de arquitectura. Preguntas.</a:t>
            </a:r>
            <a:endParaRPr/>
          </a:p>
        </p:txBody>
      </p:sp>
      <p:sp>
        <p:nvSpPr>
          <p:cNvPr id="227" name="Google Shape;227;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B19"/>
        </a:solidFill>
        <a:effectLst/>
      </p:bgPr>
    </p:bg>
    <p:spTree>
      <p:nvGrpSpPr>
        <p:cNvPr id="1" name="Shape 15"/>
        <p:cNvGrpSpPr/>
        <p:nvPr/>
      </p:nvGrpSpPr>
      <p:grpSpPr>
        <a:xfrm>
          <a:off x="0" y="0"/>
          <a:ext cx="0" cy="0"/>
          <a:chOff x="0" y="0"/>
          <a:chExt cx="0" cy="0"/>
        </a:xfrm>
      </p:grpSpPr>
      <p:sp>
        <p:nvSpPr>
          <p:cNvPr id="16" name="Google Shape;16;p3"/>
          <p:cNvSpPr/>
          <p:nvPr/>
        </p:nvSpPr>
        <p:spPr>
          <a:xfrm>
            <a:off x="812800" y="148336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956F"/>
              </a:buClr>
              <a:buSzPts val="1400"/>
              <a:buFont typeface="JetBrains Mono"/>
              <a:buNone/>
            </a:pPr>
            <a:r>
              <a:rPr lang="en-US" sz="1400" b="0" i="0" u="none" strike="noStrike" cap="none">
                <a:solidFill>
                  <a:srgbClr val="E8956F"/>
                </a:solidFill>
                <a:latin typeface="JetBrains Mono"/>
                <a:ea typeface="JetBrains Mono"/>
                <a:cs typeface="JetBrains Mono"/>
                <a:sym typeface="JetBrains Mono"/>
              </a:rPr>
              <a:t>TP FINAL · OPERACIONES DE APRENDIZAJE DE MÁQUINA II</a:t>
            </a:r>
            <a:endParaRPr sz="1400" b="0" i="0" u="none" strike="noStrike" cap="none">
              <a:solidFill>
                <a:schemeClr val="dk1"/>
              </a:solidFill>
              <a:latin typeface="Calibri"/>
              <a:ea typeface="Calibri"/>
              <a:cs typeface="Calibri"/>
              <a:sym typeface="Calibri"/>
            </a:endParaRPr>
          </a:p>
        </p:txBody>
      </p:sp>
      <p:sp>
        <p:nvSpPr>
          <p:cNvPr id="17" name="Google Shape;17;p3"/>
          <p:cNvSpPr/>
          <p:nvPr/>
        </p:nvSpPr>
        <p:spPr>
          <a:xfrm>
            <a:off x="812800" y="1986280"/>
            <a:ext cx="10883392" cy="1518920"/>
          </a:xfrm>
          <a:prstGeom prst="rect">
            <a:avLst/>
          </a:prstGeom>
          <a:noFill/>
          <a:ln>
            <a:noFill/>
          </a:ln>
        </p:spPr>
        <p:txBody>
          <a:bodyPr spcFirstLastPara="1" wrap="square" lIns="0" tIns="0" rIns="0" bIns="0" anchor="t" anchorCtr="0">
            <a:noAutofit/>
          </a:bodyPr>
          <a:lstStyle/>
          <a:p>
            <a:pPr marL="0" marR="0" lvl="0" indent="0" algn="l" rtl="0">
              <a:lnSpc>
                <a:spcPct val="104999"/>
              </a:lnSpc>
              <a:spcBef>
                <a:spcPts val="0"/>
              </a:spcBef>
              <a:spcAft>
                <a:spcPts val="0"/>
              </a:spcAft>
              <a:buClr>
                <a:srgbClr val="F2EFE8"/>
              </a:buClr>
              <a:buSzPts val="5600"/>
              <a:buFont typeface="IBM Plex Sans"/>
              <a:buNone/>
            </a:pPr>
            <a:r>
              <a:rPr lang="en-US" sz="5600" b="1" i="0" u="none" strike="noStrike" cap="none" dirty="0">
                <a:solidFill>
                  <a:srgbClr val="F2EFE8"/>
                </a:solidFill>
                <a:latin typeface="IBM Plex Sans"/>
                <a:ea typeface="IBM Plex Sans"/>
                <a:cs typeface="IBM Plex Sans"/>
                <a:sym typeface="IBM Plex Sans"/>
              </a:rPr>
              <a:t>Un </a:t>
            </a:r>
            <a:r>
              <a:rPr lang="en-US" sz="5600" b="1" i="0" u="none" strike="noStrike" cap="none" dirty="0" err="1">
                <a:solidFill>
                  <a:srgbClr val="F2EFE8"/>
                </a:solidFill>
                <a:latin typeface="IBM Plex Sans"/>
                <a:ea typeface="IBM Plex Sans"/>
                <a:cs typeface="IBM Plex Sans"/>
                <a:sym typeface="IBM Plex Sans"/>
              </a:rPr>
              <a:t>modelo</a:t>
            </a:r>
            <a:r>
              <a:rPr lang="en-US" sz="5600" b="1" i="0" u="none" strike="noStrike" cap="none" dirty="0">
                <a:solidFill>
                  <a:srgbClr val="F2EFE8"/>
                </a:solidFill>
                <a:latin typeface="IBM Plex Sans"/>
                <a:ea typeface="IBM Plex Sans"/>
                <a:cs typeface="IBM Plex Sans"/>
                <a:sym typeface="IBM Plex Sans"/>
              </a:rPr>
              <a:t>,</a:t>
            </a:r>
            <a:endParaRPr sz="5600" b="0" i="0" u="none" strike="noStrike" cap="none" dirty="0">
              <a:solidFill>
                <a:schemeClr val="dk1"/>
              </a:solidFill>
              <a:latin typeface="Calibri"/>
              <a:ea typeface="Calibri"/>
              <a:cs typeface="Calibri"/>
              <a:sym typeface="Calibri"/>
            </a:endParaRPr>
          </a:p>
          <a:p>
            <a:pPr marL="0" marR="0" lvl="0" indent="0" algn="l" rtl="0">
              <a:lnSpc>
                <a:spcPct val="104999"/>
              </a:lnSpc>
              <a:spcBef>
                <a:spcPts val="0"/>
              </a:spcBef>
              <a:spcAft>
                <a:spcPts val="0"/>
              </a:spcAft>
              <a:buClr>
                <a:srgbClr val="F2EFE8"/>
              </a:buClr>
              <a:buSzPts val="5600"/>
              <a:buFont typeface="IBM Plex Sans"/>
              <a:buNone/>
            </a:pPr>
            <a:r>
              <a:rPr lang="en-US" sz="5600" b="1" i="0" u="none" strike="noStrike" cap="none" dirty="0">
                <a:solidFill>
                  <a:srgbClr val="F2EFE8"/>
                </a:solidFill>
                <a:latin typeface="IBM Plex Sans"/>
                <a:ea typeface="IBM Plex Sans"/>
                <a:cs typeface="IBM Plex Sans"/>
                <a:sym typeface="IBM Plex Sans"/>
              </a:rPr>
              <a:t>cuatro </a:t>
            </a:r>
            <a:r>
              <a:rPr lang="en-US" sz="5600" b="1" i="0" u="none" strike="noStrike" cap="none" dirty="0" err="1">
                <a:solidFill>
                  <a:srgbClr val="F2EFE8"/>
                </a:solidFill>
                <a:latin typeface="IBM Plex Sans"/>
                <a:ea typeface="IBM Plex Sans"/>
                <a:cs typeface="IBM Plex Sans"/>
                <a:sym typeface="IBM Plex Sans"/>
              </a:rPr>
              <a:t>formas</a:t>
            </a:r>
            <a:r>
              <a:rPr lang="en-US" sz="5600" b="1" i="0" u="none" strike="noStrike" cap="none" dirty="0">
                <a:solidFill>
                  <a:srgbClr val="F2EFE8"/>
                </a:solidFill>
                <a:latin typeface="IBM Plex Sans"/>
                <a:ea typeface="IBM Plex Sans"/>
                <a:cs typeface="IBM Plex Sans"/>
                <a:sym typeface="IBM Plex Sans"/>
              </a:rPr>
              <a:t> de </a:t>
            </a:r>
            <a:r>
              <a:rPr lang="en-US" sz="5600" b="1" i="0" u="none" strike="noStrike" cap="none" dirty="0" err="1">
                <a:solidFill>
                  <a:srgbClr val="F2EFE8"/>
                </a:solidFill>
                <a:latin typeface="IBM Plex Sans"/>
                <a:ea typeface="IBM Plex Sans"/>
                <a:cs typeface="IBM Plex Sans"/>
                <a:sym typeface="IBM Plex Sans"/>
              </a:rPr>
              <a:t>acceso</a:t>
            </a:r>
            <a:endParaRPr sz="5600" b="0" i="0" u="none" strike="noStrike" cap="none" dirty="0">
              <a:solidFill>
                <a:schemeClr val="dk1"/>
              </a:solidFill>
              <a:latin typeface="Calibri"/>
              <a:ea typeface="Calibri"/>
              <a:cs typeface="Calibri"/>
              <a:sym typeface="Calibri"/>
            </a:endParaRPr>
          </a:p>
        </p:txBody>
      </p:sp>
      <p:sp>
        <p:nvSpPr>
          <p:cNvPr id="18" name="Google Shape;18;p3"/>
          <p:cNvSpPr/>
          <p:nvPr/>
        </p:nvSpPr>
        <p:spPr>
          <a:xfrm>
            <a:off x="812800" y="3733800"/>
            <a:ext cx="8502650" cy="10541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C9C3B8"/>
              </a:buClr>
              <a:buSzPts val="2000"/>
              <a:buFont typeface="IBM Plex Sans"/>
              <a:buNone/>
            </a:pPr>
            <a:r>
              <a:rPr lang="en-US" sz="2000" b="0" i="0" u="none" strike="noStrike" cap="none">
                <a:solidFill>
                  <a:srgbClr val="C9C3B8"/>
                </a:solidFill>
                <a:latin typeface="IBM Plex Sans"/>
                <a:ea typeface="IBM Plex Sans"/>
                <a:cs typeface="IBM Plex Sans"/>
                <a:sym typeface="IBM Plex Sans"/>
              </a:rPr>
              <a:t>El predictor de precios de autos usados de MLOps 1, servido por REST, GraphQL, gRPC y streaming, entrenado también en forma federada, con un Data Lake y seguridad en todas las capas.</a:t>
            </a:r>
            <a:endParaRPr sz="2000" b="0" i="0" u="none" strike="noStrike" cap="none">
              <a:solidFill>
                <a:schemeClr val="dk1"/>
              </a:solidFill>
              <a:latin typeface="Calibri"/>
              <a:ea typeface="Calibri"/>
              <a:cs typeface="Calibri"/>
              <a:sym typeface="Calibri"/>
            </a:endParaRPr>
          </a:p>
        </p:txBody>
      </p:sp>
      <p:sp>
        <p:nvSpPr>
          <p:cNvPr id="19" name="Google Shape;19;p3"/>
          <p:cNvSpPr/>
          <p:nvPr/>
        </p:nvSpPr>
        <p:spPr>
          <a:xfrm>
            <a:off x="812800" y="5016500"/>
            <a:ext cx="695008" cy="358140"/>
          </a:xfrm>
          <a:prstGeom prst="roundRect">
            <a:avLst>
              <a:gd name="adj" fmla="val 50000"/>
            </a:avLst>
          </a:prstGeom>
          <a:solidFill>
            <a:srgbClr val="2A3A52"/>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B9D3F5"/>
              </a:buClr>
              <a:buSzPts val="1300"/>
              <a:buFont typeface="IBM Plex Sans"/>
              <a:buNone/>
            </a:pPr>
            <a:r>
              <a:rPr lang="en-US" sz="1300" b="0" i="0" u="none" strike="noStrike" cap="none">
                <a:solidFill>
                  <a:srgbClr val="B9D3F5"/>
                </a:solidFill>
                <a:latin typeface="IBM Plex Sans"/>
                <a:ea typeface="IBM Plex Sans"/>
                <a:cs typeface="IBM Plex Sans"/>
                <a:sym typeface="IBM Plex Sans"/>
              </a:rPr>
              <a:t>REST</a:t>
            </a:r>
            <a:endParaRPr sz="1300" b="0" i="0" u="none" strike="noStrike" cap="none">
              <a:solidFill>
                <a:schemeClr val="dk1"/>
              </a:solidFill>
              <a:latin typeface="Calibri"/>
              <a:ea typeface="Calibri"/>
              <a:cs typeface="Calibri"/>
              <a:sym typeface="Calibri"/>
            </a:endParaRPr>
          </a:p>
        </p:txBody>
      </p:sp>
      <p:sp>
        <p:nvSpPr>
          <p:cNvPr id="20" name="Google Shape;20;p3"/>
          <p:cNvSpPr/>
          <p:nvPr/>
        </p:nvSpPr>
        <p:spPr>
          <a:xfrm>
            <a:off x="1634808" y="5016500"/>
            <a:ext cx="956786" cy="358140"/>
          </a:xfrm>
          <a:prstGeom prst="roundRect">
            <a:avLst>
              <a:gd name="adj" fmla="val 50000"/>
            </a:avLst>
          </a:prstGeom>
          <a:solidFill>
            <a:srgbClr val="3A2A40"/>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E9B9F5"/>
              </a:buClr>
              <a:buSzPts val="1300"/>
              <a:buFont typeface="IBM Plex Sans"/>
              <a:buNone/>
            </a:pPr>
            <a:r>
              <a:rPr lang="en-US" sz="1300" b="0" i="0" u="none" strike="noStrike" cap="none">
                <a:solidFill>
                  <a:srgbClr val="E9B9F5"/>
                </a:solidFill>
                <a:latin typeface="IBM Plex Sans"/>
                <a:ea typeface="IBM Plex Sans"/>
                <a:cs typeface="IBM Plex Sans"/>
                <a:sym typeface="IBM Plex Sans"/>
              </a:rPr>
              <a:t>GraphQL</a:t>
            </a:r>
            <a:endParaRPr sz="1300" b="0" i="0" u="none" strike="noStrike" cap="none">
              <a:solidFill>
                <a:schemeClr val="dk1"/>
              </a:solidFill>
              <a:latin typeface="Calibri"/>
              <a:ea typeface="Calibri"/>
              <a:cs typeface="Calibri"/>
              <a:sym typeface="Calibri"/>
            </a:endParaRPr>
          </a:p>
        </p:txBody>
      </p:sp>
      <p:sp>
        <p:nvSpPr>
          <p:cNvPr id="21" name="Google Shape;21;p3"/>
          <p:cNvSpPr/>
          <p:nvPr/>
        </p:nvSpPr>
        <p:spPr>
          <a:xfrm>
            <a:off x="2718594" y="5016500"/>
            <a:ext cx="700246" cy="358140"/>
          </a:xfrm>
          <a:prstGeom prst="roundRect">
            <a:avLst>
              <a:gd name="adj" fmla="val 50000"/>
            </a:avLst>
          </a:prstGeom>
          <a:solidFill>
            <a:srgbClr val="40351F"/>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2CF84"/>
              </a:buClr>
              <a:buSzPts val="1300"/>
              <a:buFont typeface="IBM Plex Sans"/>
              <a:buNone/>
            </a:pPr>
            <a:r>
              <a:rPr lang="en-US" sz="1300" b="0" i="0" u="none" strike="noStrike" cap="none">
                <a:solidFill>
                  <a:srgbClr val="F2CF84"/>
                </a:solidFill>
                <a:latin typeface="IBM Plex Sans"/>
                <a:ea typeface="IBM Plex Sans"/>
                <a:cs typeface="IBM Plex Sans"/>
                <a:sym typeface="IBM Plex Sans"/>
              </a:rPr>
              <a:t>gRPC</a:t>
            </a:r>
            <a:endParaRPr sz="1300" b="0" i="0" u="none" strike="noStrike" cap="none">
              <a:solidFill>
                <a:schemeClr val="dk1"/>
              </a:solidFill>
              <a:latin typeface="Calibri"/>
              <a:ea typeface="Calibri"/>
              <a:cs typeface="Calibri"/>
              <a:sym typeface="Calibri"/>
            </a:endParaRPr>
          </a:p>
        </p:txBody>
      </p:sp>
      <p:sp>
        <p:nvSpPr>
          <p:cNvPr id="22" name="Google Shape;22;p3"/>
          <p:cNvSpPr/>
          <p:nvPr/>
        </p:nvSpPr>
        <p:spPr>
          <a:xfrm>
            <a:off x="3545840" y="5016500"/>
            <a:ext cx="1063625" cy="358140"/>
          </a:xfrm>
          <a:prstGeom prst="roundRect">
            <a:avLst>
              <a:gd name="adj" fmla="val 50000"/>
            </a:avLst>
          </a:prstGeom>
          <a:solidFill>
            <a:srgbClr val="432B23"/>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3B39E"/>
              </a:buClr>
              <a:buSzPts val="1300"/>
              <a:buFont typeface="IBM Plex Sans"/>
              <a:buNone/>
            </a:pPr>
            <a:r>
              <a:rPr lang="en-US" sz="1300" b="0" i="0" u="none" strike="noStrike" cap="none">
                <a:solidFill>
                  <a:srgbClr val="F3B39E"/>
                </a:solidFill>
                <a:latin typeface="IBM Plex Sans"/>
                <a:ea typeface="IBM Plex Sans"/>
                <a:cs typeface="IBM Plex Sans"/>
                <a:sym typeface="IBM Plex Sans"/>
              </a:rPr>
              <a:t>Streaming</a:t>
            </a:r>
            <a:endParaRPr sz="1300" b="0" i="0" u="none" strike="noStrike" cap="none">
              <a:solidFill>
                <a:schemeClr val="dk1"/>
              </a:solidFill>
              <a:latin typeface="Calibri"/>
              <a:ea typeface="Calibri"/>
              <a:cs typeface="Calibri"/>
              <a:sym typeface="Calibri"/>
            </a:endParaRPr>
          </a:p>
        </p:txBody>
      </p:sp>
      <p:sp>
        <p:nvSpPr>
          <p:cNvPr id="23" name="Google Shape;23;p3"/>
          <p:cNvSpPr/>
          <p:nvPr/>
        </p:nvSpPr>
        <p:spPr>
          <a:xfrm>
            <a:off x="4736465" y="5016500"/>
            <a:ext cx="1006316" cy="358140"/>
          </a:xfrm>
          <a:prstGeom prst="roundRect">
            <a:avLst>
              <a:gd name="adj" fmla="val 50000"/>
            </a:avLst>
          </a:prstGeom>
          <a:solidFill>
            <a:srgbClr val="273A23"/>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B8E3A8"/>
              </a:buClr>
              <a:buSzPts val="1300"/>
              <a:buFont typeface="IBM Plex Sans"/>
              <a:buNone/>
            </a:pPr>
            <a:r>
              <a:rPr lang="en-US" sz="1300" b="0" i="0" u="none" strike="noStrike" cap="none">
                <a:solidFill>
                  <a:srgbClr val="B8E3A8"/>
                </a:solidFill>
                <a:latin typeface="IBM Plex Sans"/>
                <a:ea typeface="IBM Plex Sans"/>
                <a:cs typeface="IBM Plex Sans"/>
                <a:sym typeface="IBM Plex Sans"/>
              </a:rPr>
              <a:t>Federado</a:t>
            </a:r>
            <a:endParaRPr sz="1300" b="0" i="0" u="none" strike="noStrike" cap="none">
              <a:solidFill>
                <a:schemeClr val="dk1"/>
              </a:solidFill>
              <a:latin typeface="Calibri"/>
              <a:ea typeface="Calibri"/>
              <a:cs typeface="Calibri"/>
              <a:sym typeface="Calibri"/>
            </a:endParaRPr>
          </a:p>
        </p:txBody>
      </p:sp>
      <p:sp>
        <p:nvSpPr>
          <p:cNvPr id="24" name="Google Shape;24;p3"/>
          <p:cNvSpPr/>
          <p:nvPr/>
        </p:nvSpPr>
        <p:spPr>
          <a:xfrm>
            <a:off x="5869781" y="5016500"/>
            <a:ext cx="1034415" cy="358140"/>
          </a:xfrm>
          <a:prstGeom prst="roundRect">
            <a:avLst>
              <a:gd name="adj" fmla="val 50000"/>
            </a:avLst>
          </a:prstGeom>
          <a:solidFill>
            <a:srgbClr val="1F3A40"/>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A6E0EC"/>
              </a:buClr>
              <a:buSzPts val="1300"/>
              <a:buFont typeface="IBM Plex Sans"/>
              <a:buNone/>
            </a:pPr>
            <a:r>
              <a:rPr lang="en-US" sz="1300" b="0" i="0" u="none" strike="noStrike" cap="none">
                <a:solidFill>
                  <a:srgbClr val="A6E0EC"/>
                </a:solidFill>
                <a:latin typeface="IBM Plex Sans"/>
                <a:ea typeface="IBM Plex Sans"/>
                <a:cs typeface="IBM Plex Sans"/>
                <a:sym typeface="IBM Plex Sans"/>
              </a:rPr>
              <a:t>Data Lake</a:t>
            </a:r>
            <a:endParaRPr sz="1300" b="0" i="0" u="none" strike="noStrike" cap="none">
              <a:solidFill>
                <a:schemeClr val="dk1"/>
              </a:solidFill>
              <a:latin typeface="Calibri"/>
              <a:ea typeface="Calibri"/>
              <a:cs typeface="Calibri"/>
              <a:sym typeface="Calibri"/>
            </a:endParaRPr>
          </a:p>
        </p:txBody>
      </p:sp>
      <p:sp>
        <p:nvSpPr>
          <p:cNvPr id="25" name="Google Shape;25;p3"/>
          <p:cNvSpPr/>
          <p:nvPr/>
        </p:nvSpPr>
        <p:spPr>
          <a:xfrm>
            <a:off x="7031196" y="5016500"/>
            <a:ext cx="1053227" cy="358140"/>
          </a:xfrm>
          <a:prstGeom prst="roundRect">
            <a:avLst>
              <a:gd name="adj" fmla="val 50000"/>
            </a:avLst>
          </a:prstGeom>
          <a:solidFill>
            <a:srgbClr val="45262A"/>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F5B2B7"/>
              </a:buClr>
              <a:buSzPts val="1300"/>
              <a:buFont typeface="IBM Plex Sans"/>
              <a:buNone/>
            </a:pPr>
            <a:r>
              <a:rPr lang="en-US" sz="1300" b="0" i="0" u="none" strike="noStrike" cap="none">
                <a:solidFill>
                  <a:srgbClr val="F5B2B7"/>
                </a:solidFill>
                <a:latin typeface="IBM Plex Sans"/>
                <a:ea typeface="IBM Plex Sans"/>
                <a:cs typeface="IBM Plex Sans"/>
                <a:sym typeface="IBM Plex Sans"/>
              </a:rPr>
              <a:t>Seguridad</a:t>
            </a:r>
            <a:endParaRPr sz="1300" b="0" i="0" u="none" strike="noStrike" cap="none">
              <a:solidFill>
                <a:schemeClr val="dk1"/>
              </a:solidFill>
              <a:latin typeface="Calibri"/>
              <a:ea typeface="Calibri"/>
              <a:cs typeface="Calibri"/>
              <a:sym typeface="Calibri"/>
            </a:endParaRPr>
          </a:p>
        </p:txBody>
      </p:sp>
      <p:sp>
        <p:nvSpPr>
          <p:cNvPr id="26" name="Google Shape;26;p3"/>
          <p:cNvSpPr/>
          <p:nvPr/>
        </p:nvSpPr>
        <p:spPr>
          <a:xfrm>
            <a:off x="812800" y="622046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F897E"/>
              </a:buClr>
              <a:buSzPts val="1300"/>
              <a:buFont typeface="IBM Plex Sans"/>
              <a:buNone/>
            </a:pPr>
            <a:r>
              <a:rPr lang="en-US" sz="1300" b="0" i="0" u="none" strike="noStrike" cap="none">
                <a:solidFill>
                  <a:srgbClr val="8F897E"/>
                </a:solidFill>
                <a:latin typeface="IBM Plex Sans"/>
                <a:ea typeface="IBM Plex Sans"/>
                <a:cs typeface="IBM Plex Sans"/>
                <a:sym typeface="IBM Plex Sans"/>
              </a:rPr>
              <a:t>Rodolfo Di Chiazza · CEIA · FIUBA · 2026</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31"/>
        <p:cNvGrpSpPr/>
        <p:nvPr/>
      </p:nvGrpSpPr>
      <p:grpSpPr>
        <a:xfrm>
          <a:off x="0" y="0"/>
          <a:ext cx="0" cy="0"/>
          <a:chOff x="0" y="0"/>
          <a:chExt cx="0" cy="0"/>
        </a:xfrm>
      </p:grpSpPr>
      <p:sp>
        <p:nvSpPr>
          <p:cNvPr id="32" name="Google Shape;32;p4"/>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PUNTO DE PARTIDA · MLOPS 1</a:t>
            </a:r>
            <a:endParaRPr sz="1300" b="0" i="0" u="none" strike="noStrike" cap="none">
              <a:solidFill>
                <a:schemeClr val="dk1"/>
              </a:solidFill>
              <a:latin typeface="Calibri"/>
              <a:ea typeface="Calibri"/>
              <a:cs typeface="Calibri"/>
              <a:sym typeface="Calibri"/>
            </a:endParaRPr>
          </a:p>
        </p:txBody>
      </p:sp>
      <p:sp>
        <p:nvSpPr>
          <p:cNvPr id="33" name="Google Shape;33;p4"/>
          <p:cNvSpPr/>
          <p:nvPr/>
        </p:nvSpPr>
        <p:spPr>
          <a:xfrm>
            <a:off x="812800" y="1399540"/>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dirty="0">
                <a:solidFill>
                  <a:srgbClr val="22201D"/>
                </a:solidFill>
                <a:latin typeface="IBM Plex Sans"/>
                <a:ea typeface="IBM Plex Sans"/>
                <a:cs typeface="IBM Plex Sans"/>
                <a:sym typeface="IBM Plex Sans"/>
              </a:rPr>
              <a:t>El </a:t>
            </a:r>
            <a:r>
              <a:rPr lang="en-US" sz="3200" b="1" i="0" u="none" strike="noStrike" cap="none" dirty="0" err="1">
                <a:solidFill>
                  <a:srgbClr val="22201D"/>
                </a:solidFill>
                <a:latin typeface="IBM Plex Sans"/>
                <a:ea typeface="IBM Plex Sans"/>
                <a:cs typeface="IBM Plex Sans"/>
                <a:sym typeface="IBM Plex Sans"/>
              </a:rPr>
              <a:t>núcleo</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ya</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existía</a:t>
            </a:r>
            <a:r>
              <a:rPr lang="en-US" sz="3200" b="1" i="0" u="none" strike="noStrike" cap="none" dirty="0">
                <a:solidFill>
                  <a:srgbClr val="22201D"/>
                </a:solidFill>
                <a:latin typeface="IBM Plex Sans"/>
                <a:ea typeface="IBM Plex Sans"/>
                <a:cs typeface="IBM Plex Sans"/>
                <a:sym typeface="IBM Plex Sans"/>
              </a:rPr>
              <a:t> y no se </a:t>
            </a:r>
            <a:r>
              <a:rPr lang="en-US" sz="3200" b="1" i="0" u="none" strike="noStrike" cap="none" dirty="0" err="1">
                <a:solidFill>
                  <a:srgbClr val="22201D"/>
                </a:solidFill>
                <a:latin typeface="IBM Plex Sans"/>
                <a:ea typeface="IBM Plex Sans"/>
                <a:cs typeface="IBM Plex Sans"/>
                <a:sym typeface="IBM Plex Sans"/>
              </a:rPr>
              <a:t>modifica</a:t>
            </a:r>
            <a:endParaRPr sz="3200" b="0" i="0" u="none" strike="noStrike" cap="none" dirty="0">
              <a:solidFill>
                <a:schemeClr val="dk1"/>
              </a:solidFill>
              <a:latin typeface="Calibri"/>
              <a:ea typeface="Calibri"/>
              <a:cs typeface="Calibri"/>
              <a:sym typeface="Calibri"/>
            </a:endParaRPr>
          </a:p>
        </p:txBody>
      </p:sp>
      <p:sp>
        <p:nvSpPr>
          <p:cNvPr id="34" name="Google Shape;34;p4"/>
          <p:cNvSpPr/>
          <p:nvPr/>
        </p:nvSpPr>
        <p:spPr>
          <a:xfrm>
            <a:off x="815975" y="2225675"/>
            <a:ext cx="3380264" cy="1527810"/>
          </a:xfrm>
          <a:prstGeom prst="roundRect">
            <a:avLst>
              <a:gd name="adj" fmla="val 6442"/>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1046480" y="2456180"/>
            <a:ext cx="3006831" cy="269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600"/>
              <a:buFont typeface="IBM Plex Sans"/>
              <a:buNone/>
            </a:pPr>
            <a:r>
              <a:rPr lang="en-US" sz="1600" b="1" i="0" u="none" strike="noStrike" cap="none">
                <a:solidFill>
                  <a:srgbClr val="22201D"/>
                </a:solidFill>
                <a:latin typeface="IBM Plex Sans"/>
                <a:ea typeface="IBM Plex Sans"/>
                <a:cs typeface="IBM Plex Sans"/>
                <a:sym typeface="IBM Plex Sans"/>
              </a:rPr>
              <a:t>Datos</a:t>
            </a:r>
            <a:endParaRPr sz="1600" b="0" i="0" u="none" strike="noStrike" cap="none">
              <a:solidFill>
                <a:schemeClr val="dk1"/>
              </a:solidFill>
              <a:latin typeface="Calibri"/>
              <a:ea typeface="Calibri"/>
              <a:cs typeface="Calibri"/>
              <a:sym typeface="Calibri"/>
            </a:endParaRPr>
          </a:p>
        </p:txBody>
      </p:sp>
      <p:sp>
        <p:nvSpPr>
          <p:cNvPr id="36" name="Google Shape;36;p4"/>
          <p:cNvSpPr/>
          <p:nvPr/>
        </p:nvSpPr>
        <p:spPr>
          <a:xfrm>
            <a:off x="1046480" y="2776220"/>
            <a:ext cx="3006831" cy="7721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400"/>
              <a:buFont typeface="IBM Plex Sans"/>
              <a:buNone/>
            </a:pPr>
            <a:r>
              <a:rPr lang="en-US" sz="1400" b="0" i="0" u="none" strike="noStrike" cap="none">
                <a:solidFill>
                  <a:srgbClr val="5E5A54"/>
                </a:solidFill>
                <a:latin typeface="IBM Plex Sans"/>
                <a:ea typeface="IBM Plex Sans"/>
                <a:cs typeface="IBM Plex Sans"/>
                <a:sym typeface="IBM Plex Sans"/>
              </a:rPr>
              <a:t>Car Dekho: 8.128 autos usados con año, km, combustible, motor, potencia y torque.</a:t>
            </a:r>
            <a:endParaRPr sz="1400" b="0" i="0" u="none" strike="noStrike" cap="none">
              <a:solidFill>
                <a:schemeClr val="dk1"/>
              </a:solidFill>
              <a:latin typeface="Calibri"/>
              <a:ea typeface="Calibri"/>
              <a:cs typeface="Calibri"/>
              <a:sym typeface="Calibri"/>
            </a:endParaRPr>
          </a:p>
        </p:txBody>
      </p:sp>
      <p:sp>
        <p:nvSpPr>
          <p:cNvPr id="37" name="Google Shape;37;p4"/>
          <p:cNvSpPr/>
          <p:nvPr/>
        </p:nvSpPr>
        <p:spPr>
          <a:xfrm>
            <a:off x="4405789" y="2225675"/>
            <a:ext cx="3380343" cy="1527810"/>
          </a:xfrm>
          <a:prstGeom prst="roundRect">
            <a:avLst>
              <a:gd name="adj" fmla="val 6442"/>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4636294" y="2456180"/>
            <a:ext cx="3006913" cy="269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600"/>
              <a:buFont typeface="IBM Plex Sans"/>
              <a:buNone/>
            </a:pPr>
            <a:r>
              <a:rPr lang="en-US" sz="1600" b="1" i="0" u="none" strike="noStrike" cap="none">
                <a:solidFill>
                  <a:srgbClr val="22201D"/>
                </a:solidFill>
                <a:latin typeface="IBM Plex Sans"/>
                <a:ea typeface="IBM Plex Sans"/>
                <a:cs typeface="IBM Plex Sans"/>
                <a:sym typeface="IBM Plex Sans"/>
              </a:rPr>
              <a:t>Modelo</a:t>
            </a:r>
            <a:endParaRPr sz="1600" b="0" i="0" u="none" strike="noStrike" cap="none">
              <a:solidFill>
                <a:schemeClr val="dk1"/>
              </a:solidFill>
              <a:latin typeface="Calibri"/>
              <a:ea typeface="Calibri"/>
              <a:cs typeface="Calibri"/>
              <a:sym typeface="Calibri"/>
            </a:endParaRPr>
          </a:p>
        </p:txBody>
      </p:sp>
      <p:sp>
        <p:nvSpPr>
          <p:cNvPr id="39" name="Google Shape;39;p4"/>
          <p:cNvSpPr/>
          <p:nvPr/>
        </p:nvSpPr>
        <p:spPr>
          <a:xfrm>
            <a:off x="4636294" y="2776220"/>
            <a:ext cx="3006913" cy="7721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400"/>
              <a:buFont typeface="IBM Plex Sans"/>
              <a:buNone/>
            </a:pPr>
            <a:r>
              <a:rPr lang="en-US" sz="1400" b="1" i="0" u="none" strike="noStrike" cap="none">
                <a:solidFill>
                  <a:srgbClr val="5E5A54"/>
                </a:solidFill>
                <a:latin typeface="IBM Plex Sans"/>
                <a:ea typeface="IBM Plex Sans"/>
                <a:cs typeface="IBM Plex Sans"/>
                <a:sym typeface="IBM Plex Sans"/>
              </a:rPr>
              <a:t>xgb_best</a:t>
            </a:r>
            <a:r>
              <a:rPr lang="en-US" sz="1400" b="0" i="0" u="none" strike="noStrike" cap="none">
                <a:solidFill>
                  <a:srgbClr val="5E5A54"/>
                </a:solidFill>
                <a:latin typeface="IBM Plex Sans"/>
                <a:ea typeface="IBM Plex Sans"/>
                <a:cs typeface="IBM Plex Sans"/>
                <a:sym typeface="IBM Plex Sans"/>
              </a:rPr>
              <a:t>: XGBoost ajustado con Optuna, predice log(precio) con 23 features.</a:t>
            </a:r>
            <a:endParaRPr sz="1400" b="0" i="0" u="none" strike="noStrike" cap="none">
              <a:solidFill>
                <a:schemeClr val="dk1"/>
              </a:solidFill>
              <a:latin typeface="Calibri"/>
              <a:ea typeface="Calibri"/>
              <a:cs typeface="Calibri"/>
              <a:sym typeface="Calibri"/>
            </a:endParaRPr>
          </a:p>
        </p:txBody>
      </p:sp>
      <p:sp>
        <p:nvSpPr>
          <p:cNvPr id="40" name="Google Shape;40;p4"/>
          <p:cNvSpPr/>
          <p:nvPr/>
        </p:nvSpPr>
        <p:spPr>
          <a:xfrm>
            <a:off x="7995682" y="2225675"/>
            <a:ext cx="3380343" cy="1527810"/>
          </a:xfrm>
          <a:prstGeom prst="roundRect">
            <a:avLst>
              <a:gd name="adj" fmla="val 6442"/>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8226187" y="2456180"/>
            <a:ext cx="3006913" cy="269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600"/>
              <a:buFont typeface="IBM Plex Sans"/>
              <a:buNone/>
            </a:pPr>
            <a:r>
              <a:rPr lang="en-US" sz="1600" b="1" i="0" u="none" strike="noStrike" cap="none">
                <a:solidFill>
                  <a:srgbClr val="22201D"/>
                </a:solidFill>
                <a:latin typeface="IBM Plex Sans"/>
                <a:ea typeface="IBM Plex Sans"/>
                <a:cs typeface="IBM Plex Sans"/>
                <a:sym typeface="IBM Plex Sans"/>
              </a:rPr>
              <a:t>Plataforma</a:t>
            </a:r>
            <a:endParaRPr sz="1600" b="0" i="0" u="none" strike="noStrike" cap="none">
              <a:solidFill>
                <a:schemeClr val="dk1"/>
              </a:solidFill>
              <a:latin typeface="Calibri"/>
              <a:ea typeface="Calibri"/>
              <a:cs typeface="Calibri"/>
              <a:sym typeface="Calibri"/>
            </a:endParaRPr>
          </a:p>
        </p:txBody>
      </p:sp>
      <p:sp>
        <p:nvSpPr>
          <p:cNvPr id="42" name="Google Shape;42;p4"/>
          <p:cNvSpPr/>
          <p:nvPr/>
        </p:nvSpPr>
        <p:spPr>
          <a:xfrm>
            <a:off x="8226187" y="2776220"/>
            <a:ext cx="3006913" cy="7721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400"/>
              <a:buFont typeface="IBM Plex Sans"/>
              <a:buNone/>
            </a:pPr>
            <a:r>
              <a:rPr lang="en-US" sz="1400" b="0" i="0" u="none" strike="noStrike" cap="none">
                <a:solidFill>
                  <a:srgbClr val="5E5A54"/>
                </a:solidFill>
                <a:latin typeface="IBM Plex Sans"/>
                <a:ea typeface="IBM Plex Sans"/>
                <a:cs typeface="IBM Plex Sans"/>
                <a:sym typeface="IBM Plex Sans"/>
              </a:rPr>
              <a:t>Airflow entrena, MLflow registra en Production, MinIO guarda, FastAPI sirve.</a:t>
            </a:r>
            <a:endParaRPr sz="1400" b="0" i="0" u="none" strike="noStrike" cap="none">
              <a:solidFill>
                <a:schemeClr val="dk1"/>
              </a:solidFill>
              <a:latin typeface="Calibri"/>
              <a:ea typeface="Calibri"/>
              <a:cs typeface="Calibri"/>
              <a:sym typeface="Calibri"/>
            </a:endParaRPr>
          </a:p>
        </p:txBody>
      </p:sp>
      <p:sp>
        <p:nvSpPr>
          <p:cNvPr id="43" name="Google Shape;43;p4"/>
          <p:cNvSpPr/>
          <p:nvPr/>
        </p:nvSpPr>
        <p:spPr>
          <a:xfrm>
            <a:off x="812800" y="4112260"/>
            <a:ext cx="1982438" cy="635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E6DA4"/>
              </a:buClr>
              <a:buSzPts val="4800"/>
              <a:buFont typeface="IBM Plex Sans"/>
              <a:buNone/>
            </a:pPr>
            <a:r>
              <a:rPr lang="en-US" sz="4800" b="1" i="0" u="none" strike="noStrike" cap="none">
                <a:solidFill>
                  <a:srgbClr val="2E6DA4"/>
                </a:solidFill>
                <a:latin typeface="IBM Plex Sans"/>
                <a:ea typeface="IBM Plex Sans"/>
                <a:cs typeface="IBM Plex Sans"/>
                <a:sym typeface="IBM Plex Sans"/>
              </a:rPr>
              <a:t>0,936</a:t>
            </a:r>
            <a:endParaRPr sz="4800" b="0" i="0" u="none" strike="noStrike" cap="none">
              <a:solidFill>
                <a:schemeClr val="dk1"/>
              </a:solidFill>
              <a:latin typeface="Calibri"/>
              <a:ea typeface="Calibri"/>
              <a:cs typeface="Calibri"/>
              <a:sym typeface="Calibri"/>
            </a:endParaRPr>
          </a:p>
        </p:txBody>
      </p:sp>
      <p:sp>
        <p:nvSpPr>
          <p:cNvPr id="44" name="Google Shape;44;p4"/>
          <p:cNvSpPr/>
          <p:nvPr/>
        </p:nvSpPr>
        <p:spPr>
          <a:xfrm>
            <a:off x="812800" y="4747260"/>
            <a:ext cx="170283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300"/>
              <a:buFont typeface="IBM Plex Sans"/>
              <a:buNone/>
            </a:pPr>
            <a:r>
              <a:rPr lang="en-US" sz="1300" b="0" i="0" u="none" strike="noStrike" cap="none">
                <a:solidFill>
                  <a:srgbClr val="5E5A54"/>
                </a:solidFill>
                <a:latin typeface="IBM Plex Sans"/>
                <a:ea typeface="IBM Plex Sans"/>
                <a:cs typeface="IBM Plex Sans"/>
                <a:sym typeface="IBM Plex Sans"/>
              </a:rPr>
              <a:t>R² en test</a:t>
            </a:r>
            <a:endParaRPr sz="1300" b="0" i="0" u="none" strike="noStrike" cap="none">
              <a:solidFill>
                <a:schemeClr val="dk1"/>
              </a:solidFill>
              <a:latin typeface="Calibri"/>
              <a:ea typeface="Calibri"/>
              <a:cs typeface="Calibri"/>
              <a:sym typeface="Calibri"/>
            </a:endParaRPr>
          </a:p>
        </p:txBody>
      </p:sp>
      <p:sp>
        <p:nvSpPr>
          <p:cNvPr id="45" name="Google Shape;45;p4"/>
          <p:cNvSpPr/>
          <p:nvPr/>
        </p:nvSpPr>
        <p:spPr>
          <a:xfrm>
            <a:off x="2871232" y="4112260"/>
            <a:ext cx="2902664" cy="635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E6DA4"/>
              </a:buClr>
              <a:buSzPts val="4800"/>
              <a:buFont typeface="IBM Plex Sans"/>
              <a:buNone/>
            </a:pPr>
            <a:r>
              <a:rPr lang="en-US" sz="4800" b="1" i="0" u="none" strike="noStrike" cap="none">
                <a:solidFill>
                  <a:srgbClr val="2E6DA4"/>
                </a:solidFill>
                <a:latin typeface="IBM Plex Sans"/>
                <a:ea typeface="IBM Plex Sans"/>
                <a:cs typeface="IBM Plex Sans"/>
                <a:sym typeface="IBM Plex Sans"/>
              </a:rPr>
              <a:t>≈ 72.700</a:t>
            </a:r>
            <a:endParaRPr sz="4800" b="0" i="0" u="none" strike="noStrike" cap="none">
              <a:solidFill>
                <a:schemeClr val="dk1"/>
              </a:solidFill>
              <a:latin typeface="Calibri"/>
              <a:ea typeface="Calibri"/>
              <a:cs typeface="Calibri"/>
              <a:sym typeface="Calibri"/>
            </a:endParaRPr>
          </a:p>
        </p:txBody>
      </p:sp>
      <p:sp>
        <p:nvSpPr>
          <p:cNvPr id="46" name="Google Shape;46;p4"/>
          <p:cNvSpPr/>
          <p:nvPr/>
        </p:nvSpPr>
        <p:spPr>
          <a:xfrm>
            <a:off x="2871232" y="4747260"/>
            <a:ext cx="257115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300"/>
              <a:buFont typeface="IBM Plex Sans"/>
              <a:buNone/>
            </a:pPr>
            <a:r>
              <a:rPr lang="en-US" sz="1300" b="0" i="0" u="none" strike="noStrike" cap="none">
                <a:solidFill>
                  <a:srgbClr val="5E5A54"/>
                </a:solidFill>
                <a:latin typeface="IBM Plex Sans"/>
                <a:ea typeface="IBM Plex Sans"/>
                <a:cs typeface="IBM Plex Sans"/>
                <a:sym typeface="IBM Plex Sans"/>
              </a:rPr>
              <a:t>MAE en test (rupias)</a:t>
            </a:r>
            <a:endParaRPr sz="1300" b="0" i="0" u="none" strike="noStrike" cap="none">
              <a:solidFill>
                <a:schemeClr val="dk1"/>
              </a:solidFill>
              <a:latin typeface="Calibri"/>
              <a:ea typeface="Calibri"/>
              <a:cs typeface="Calibri"/>
              <a:sym typeface="Calibri"/>
            </a:endParaRPr>
          </a:p>
        </p:txBody>
      </p:sp>
      <p:sp>
        <p:nvSpPr>
          <p:cNvPr id="47" name="Google Shape;47;p4"/>
          <p:cNvSpPr/>
          <p:nvPr/>
        </p:nvSpPr>
        <p:spPr>
          <a:xfrm>
            <a:off x="5773896" y="4445000"/>
            <a:ext cx="5773463"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0" i="0" u="none" strike="noStrike" cap="none">
                <a:solidFill>
                  <a:srgbClr val="22201D"/>
                </a:solidFill>
                <a:latin typeface="IBM Plex Sans"/>
                <a:ea typeface="IBM Plex Sans"/>
                <a:cs typeface="IBM Plex Sans"/>
                <a:sym typeface="IBM Plex Sans"/>
              </a:rPr>
              <a:t>El TP de MLOps 2 no reentrena ni cambia este modelo: le agrega nuevas formas de usarlo, entrenarlo, guardarlo y protegerlo.</a:t>
            </a:r>
            <a:endParaRPr sz="1500" b="0" i="0" u="none" strike="noStrike" cap="none">
              <a:solidFill>
                <a:schemeClr val="dk1"/>
              </a:solidFill>
              <a:latin typeface="Calibri"/>
              <a:ea typeface="Calibri"/>
              <a:cs typeface="Calibri"/>
              <a:sym typeface="Calibri"/>
            </a:endParaRPr>
          </a:p>
        </p:txBody>
      </p:sp>
      <p:sp>
        <p:nvSpPr>
          <p:cNvPr id="48" name="Google Shape;48;p4"/>
          <p:cNvSpPr/>
          <p:nvPr/>
        </p:nvSpPr>
        <p:spPr>
          <a:xfrm>
            <a:off x="812800" y="6238241"/>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F897E"/>
              </a:buClr>
              <a:buSzPts val="1200"/>
              <a:buFont typeface="IBM Plex Sans"/>
              <a:buNone/>
            </a:pPr>
            <a:r>
              <a:rPr lang="en-US" sz="1200" b="0" i="0" u="none" strike="noStrike" cap="none">
                <a:solidFill>
                  <a:srgbClr val="8F897E"/>
                </a:solidFill>
                <a:latin typeface="IBM Plex Sans"/>
                <a:ea typeface="IBM Plex Sans"/>
                <a:cs typeface="IBM Plex Sans"/>
                <a:sym typeface="IBM Plex Sans"/>
              </a:rPr>
              <a:t>Métricas del run de MLflow de xgb_best v1 (Production)</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53"/>
        <p:cNvGrpSpPr/>
        <p:nvPr/>
      </p:nvGrpSpPr>
      <p:grpSpPr>
        <a:xfrm>
          <a:off x="0" y="0"/>
          <a:ext cx="0" cy="0"/>
          <a:chOff x="0" y="0"/>
          <a:chExt cx="0" cy="0"/>
        </a:xfrm>
      </p:grpSpPr>
      <p:sp>
        <p:nvSpPr>
          <p:cNvPr id="54" name="Google Shape;54;p5"/>
          <p:cNvSpPr/>
          <p:nvPr/>
        </p:nvSpPr>
        <p:spPr>
          <a:xfrm>
            <a:off x="6513116" y="181611"/>
            <a:ext cx="5507355" cy="6555661"/>
          </a:xfrm>
          <a:prstGeom prst="roundRect">
            <a:avLst>
              <a:gd name="adj" fmla="val 1384"/>
            </a:avLst>
          </a:prstGeom>
          <a:solidFill>
            <a:srgbClr val="1B1A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 name="Google Shape;55;p5" descr="Diagrama de arquitectura: núcleo Airflow, MLflow y modelo cargado; franja de seguridad; cuatro capas REST, GraphQL, gRPC y streaming; entrenamiento federado con tres concesionarias; Data Lake con buckets datalake y mlflow-artifacts"/>
          <p:cNvPicPr preferRelativeResize="0"/>
          <p:nvPr/>
        </p:nvPicPr>
        <p:blipFill rotWithShape="1">
          <a:blip r:embed="rId3">
            <a:alphaModFix/>
          </a:blip>
          <a:srcRect/>
          <a:stretch/>
        </p:blipFill>
        <p:spPr>
          <a:xfrm>
            <a:off x="7005542" y="181611"/>
            <a:ext cx="4522502" cy="6555661"/>
          </a:xfrm>
          <a:prstGeom prst="rect">
            <a:avLst/>
          </a:prstGeom>
          <a:noFill/>
          <a:ln>
            <a:noFill/>
          </a:ln>
        </p:spPr>
      </p:pic>
      <p:sp>
        <p:nvSpPr>
          <p:cNvPr id="56" name="Google Shape;56;p5"/>
          <p:cNvSpPr/>
          <p:nvPr/>
        </p:nvSpPr>
        <p:spPr>
          <a:xfrm>
            <a:off x="812800" y="1778000"/>
            <a:ext cx="6488176"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ARQUITECTURA</a:t>
            </a:r>
            <a:endParaRPr sz="1300" b="0" i="0" u="none" strike="noStrike" cap="none">
              <a:solidFill>
                <a:schemeClr val="dk1"/>
              </a:solidFill>
              <a:latin typeface="Calibri"/>
              <a:ea typeface="Calibri"/>
              <a:cs typeface="Calibri"/>
              <a:sym typeface="Calibri"/>
            </a:endParaRPr>
          </a:p>
        </p:txBody>
      </p:sp>
      <p:sp>
        <p:nvSpPr>
          <p:cNvPr id="57" name="Google Shape;57;p5"/>
          <p:cNvSpPr/>
          <p:nvPr/>
        </p:nvSpPr>
        <p:spPr>
          <a:xfrm>
            <a:off x="812800" y="2260600"/>
            <a:ext cx="6488176" cy="96012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a:solidFill>
                  <a:srgbClr val="22201D"/>
                </a:solidFill>
                <a:latin typeface="IBM Plex Sans"/>
                <a:ea typeface="IBM Plex Sans"/>
                <a:cs typeface="IBM Plex Sans"/>
                <a:sym typeface="IBM Plex Sans"/>
              </a:rPr>
              <a:t>Un núcleo, cuatro capas, dos bloques de apoyo</a:t>
            </a:r>
            <a:endParaRPr sz="3200" b="0" i="0" u="none" strike="noStrike" cap="none">
              <a:solidFill>
                <a:schemeClr val="dk1"/>
              </a:solidFill>
              <a:latin typeface="Calibri"/>
              <a:ea typeface="Calibri"/>
              <a:cs typeface="Calibri"/>
              <a:sym typeface="Calibri"/>
            </a:endParaRPr>
          </a:p>
        </p:txBody>
      </p:sp>
      <p:sp>
        <p:nvSpPr>
          <p:cNvPr id="58" name="Google Shape;58;p5"/>
          <p:cNvSpPr/>
          <p:nvPr/>
        </p:nvSpPr>
        <p:spPr>
          <a:xfrm>
            <a:off x="812800" y="3454400"/>
            <a:ext cx="5749100"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1" i="0" u="none" strike="noStrike" cap="none" dirty="0" err="1">
                <a:solidFill>
                  <a:srgbClr val="22201D"/>
                </a:solidFill>
                <a:latin typeface="IBM Plex Sans"/>
                <a:ea typeface="IBM Plex Sans"/>
                <a:cs typeface="IBM Plex Sans"/>
                <a:sym typeface="IBM Plex Sans"/>
              </a:rPr>
              <a:t>Núcleo</a:t>
            </a:r>
            <a:r>
              <a:rPr lang="en-US" sz="1500" b="1" i="0" u="none" strike="noStrike" cap="none" dirty="0">
                <a:solidFill>
                  <a:srgbClr val="22201D"/>
                </a:solidFill>
                <a:latin typeface="IBM Plex Sans"/>
                <a:ea typeface="IBM Plex Sans"/>
                <a:cs typeface="IBM Plex Sans"/>
                <a:sym typeface="IBM Plex Sans"/>
              </a:rPr>
              <a:t>:</a:t>
            </a:r>
            <a:r>
              <a:rPr lang="en-US" sz="1500" b="0" i="0" u="none" strike="noStrike" cap="none" dirty="0">
                <a:solidFill>
                  <a:srgbClr val="22201D"/>
                </a:solidFill>
                <a:latin typeface="IBM Plex Sans"/>
                <a:ea typeface="IBM Plex Sans"/>
                <a:cs typeface="IBM Plex Sans"/>
                <a:sym typeface="IBM Plex Sans"/>
              </a:rPr>
              <a:t> Airflow → </a:t>
            </a:r>
            <a:r>
              <a:rPr lang="en-US" sz="1500" b="0" i="0" u="none" strike="noStrike" cap="none" dirty="0" err="1">
                <a:solidFill>
                  <a:srgbClr val="22201D"/>
                </a:solidFill>
                <a:latin typeface="IBM Plex Sans"/>
                <a:ea typeface="IBM Plex Sans"/>
                <a:cs typeface="IBM Plex Sans"/>
                <a:sym typeface="IBM Plex Sans"/>
              </a:rPr>
              <a:t>MLflow</a:t>
            </a:r>
            <a:r>
              <a:rPr lang="en-US" sz="1500" b="0" i="0" u="none" strike="noStrike" cap="none" dirty="0">
                <a:solidFill>
                  <a:srgbClr val="22201D"/>
                </a:solidFill>
                <a:latin typeface="IBM Plex Sans"/>
                <a:ea typeface="IBM Plex Sans"/>
                <a:cs typeface="IBM Plex Sans"/>
                <a:sym typeface="IBM Plex Sans"/>
              </a:rPr>
              <a:t> Registry → </a:t>
            </a:r>
            <a:r>
              <a:rPr lang="en-US" sz="1500" b="0" i="0" u="none" strike="noStrike" cap="none" dirty="0" err="1">
                <a:solidFill>
                  <a:srgbClr val="22201D"/>
                </a:solidFill>
                <a:latin typeface="IBM Plex Sans"/>
                <a:ea typeface="IBM Plex Sans"/>
                <a:cs typeface="IBM Plex Sans"/>
                <a:sym typeface="IBM Plex Sans"/>
              </a:rPr>
              <a:t>modelo</a:t>
            </a:r>
            <a:r>
              <a:rPr lang="en-US" sz="1500" b="0" i="0" u="none" strike="noStrike" cap="none" dirty="0">
                <a:solidFill>
                  <a:srgbClr val="22201D"/>
                </a:solidFill>
                <a:latin typeface="IBM Plex Sans"/>
                <a:ea typeface="IBM Plex Sans"/>
                <a:cs typeface="IBM Plex Sans"/>
                <a:sym typeface="IBM Plex Sans"/>
              </a:rPr>
              <a:t> </a:t>
            </a:r>
            <a:r>
              <a:rPr lang="en-US" sz="1500" b="0" i="0" u="none" strike="noStrike" cap="none" dirty="0" err="1">
                <a:solidFill>
                  <a:srgbClr val="22201D"/>
                </a:solidFill>
                <a:latin typeface="IBM Plex Sans"/>
                <a:ea typeface="IBM Plex Sans"/>
                <a:cs typeface="IBM Plex Sans"/>
                <a:sym typeface="IBM Plex Sans"/>
              </a:rPr>
              <a:t>cargado</a:t>
            </a:r>
            <a:r>
              <a:rPr lang="en-US" sz="1500" b="0" i="0" u="none" strike="noStrike" cap="none" dirty="0">
                <a:solidFill>
                  <a:srgbClr val="22201D"/>
                </a:solidFill>
                <a:latin typeface="IBM Plex Sans"/>
                <a:ea typeface="IBM Plex Sans"/>
                <a:cs typeface="IBM Plex Sans"/>
                <a:sym typeface="IBM Plex Sans"/>
              </a:rPr>
              <a:t>. </a:t>
            </a:r>
            <a:r>
              <a:rPr lang="en-US" sz="1500" b="0" i="0" u="none" strike="noStrike" cap="none" dirty="0" err="1">
                <a:solidFill>
                  <a:srgbClr val="22201D"/>
                </a:solidFill>
                <a:latin typeface="IBM Plex Sans"/>
                <a:ea typeface="IBM Plex Sans"/>
                <a:cs typeface="IBM Plex Sans"/>
                <a:sym typeface="IBM Plex Sans"/>
              </a:rPr>
              <a:t>Igual</a:t>
            </a:r>
            <a:r>
              <a:rPr lang="en-US" sz="1500" b="0" i="0" u="none" strike="noStrike" cap="none" dirty="0">
                <a:solidFill>
                  <a:srgbClr val="22201D"/>
                </a:solidFill>
                <a:latin typeface="IBM Plex Sans"/>
                <a:ea typeface="IBM Plex Sans"/>
                <a:cs typeface="IBM Plex Sans"/>
                <a:sym typeface="IBM Plex Sans"/>
              </a:rPr>
              <a:t> que  </a:t>
            </a:r>
            <a:r>
              <a:rPr lang="en-US" sz="1500" b="0" i="0" u="none" strike="noStrike" cap="none" dirty="0" err="1">
                <a:solidFill>
                  <a:srgbClr val="22201D"/>
                </a:solidFill>
                <a:latin typeface="IBM Plex Sans"/>
                <a:ea typeface="IBM Plex Sans"/>
                <a:cs typeface="IBM Plex Sans"/>
                <a:sym typeface="IBM Plex Sans"/>
              </a:rPr>
              <a:t>en</a:t>
            </a:r>
            <a:r>
              <a:rPr lang="en-US" sz="1500" b="0" i="0" u="none" strike="noStrike" cap="none" dirty="0">
                <a:solidFill>
                  <a:srgbClr val="22201D"/>
                </a:solidFill>
                <a:latin typeface="IBM Plex Sans"/>
                <a:ea typeface="IBM Plex Sans"/>
                <a:cs typeface="IBM Plex Sans"/>
                <a:sym typeface="IBM Plex Sans"/>
              </a:rPr>
              <a:t> </a:t>
            </a:r>
            <a:r>
              <a:rPr lang="en-US" sz="1500" b="0" i="0" u="none" strike="noStrike" cap="none" dirty="0" err="1">
                <a:solidFill>
                  <a:srgbClr val="22201D"/>
                </a:solidFill>
                <a:latin typeface="IBM Plex Sans"/>
                <a:ea typeface="IBM Plex Sans"/>
                <a:cs typeface="IBM Plex Sans"/>
                <a:sym typeface="IBM Plex Sans"/>
              </a:rPr>
              <a:t>MLOps</a:t>
            </a:r>
            <a:r>
              <a:rPr lang="en-US" sz="1500" b="0" i="0" u="none" strike="noStrike" cap="none" dirty="0">
                <a:solidFill>
                  <a:srgbClr val="22201D"/>
                </a:solidFill>
                <a:latin typeface="IBM Plex Sans"/>
                <a:ea typeface="IBM Plex Sans"/>
                <a:cs typeface="IBM Plex Sans"/>
                <a:sym typeface="IBM Plex Sans"/>
              </a:rPr>
              <a:t> 1.</a:t>
            </a:r>
            <a:endParaRPr sz="1500" b="0" i="0" u="none" strike="noStrike" cap="none" dirty="0">
              <a:solidFill>
                <a:schemeClr val="dk1"/>
              </a:solidFill>
              <a:latin typeface="Calibri"/>
              <a:ea typeface="Calibri"/>
              <a:cs typeface="Calibri"/>
              <a:sym typeface="Calibri"/>
            </a:endParaRPr>
          </a:p>
        </p:txBody>
      </p:sp>
      <p:sp>
        <p:nvSpPr>
          <p:cNvPr id="59" name="Google Shape;59;p5"/>
          <p:cNvSpPr/>
          <p:nvPr/>
        </p:nvSpPr>
        <p:spPr>
          <a:xfrm>
            <a:off x="812800" y="4128057"/>
            <a:ext cx="5700536"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1" i="0" u="none" strike="noStrike" cap="none" dirty="0">
                <a:solidFill>
                  <a:srgbClr val="22201D"/>
                </a:solidFill>
                <a:latin typeface="IBM Plex Sans"/>
                <a:ea typeface="IBM Plex Sans"/>
                <a:cs typeface="IBM Plex Sans"/>
                <a:sym typeface="IBM Plex Sans"/>
              </a:rPr>
              <a:t>Cuatro </a:t>
            </a:r>
            <a:r>
              <a:rPr lang="en-US" sz="1500" b="1" i="0" u="none" strike="noStrike" cap="none" dirty="0" err="1">
                <a:solidFill>
                  <a:srgbClr val="22201D"/>
                </a:solidFill>
                <a:latin typeface="IBM Plex Sans"/>
                <a:ea typeface="IBM Plex Sans"/>
                <a:cs typeface="IBM Plex Sans"/>
                <a:sym typeface="IBM Plex Sans"/>
              </a:rPr>
              <a:t>capas</a:t>
            </a:r>
            <a:r>
              <a:rPr lang="en-US" sz="1500" b="1" i="0" u="none" strike="noStrike" cap="none" dirty="0">
                <a:solidFill>
                  <a:srgbClr val="22201D"/>
                </a:solidFill>
                <a:latin typeface="IBM Plex Sans"/>
                <a:ea typeface="IBM Plex Sans"/>
                <a:cs typeface="IBM Plex Sans"/>
                <a:sym typeface="IBM Plex Sans"/>
              </a:rPr>
              <a:t> de </a:t>
            </a:r>
            <a:r>
              <a:rPr lang="en-US" sz="1500" b="1" i="0" u="none" strike="noStrike" cap="none" dirty="0" err="1">
                <a:solidFill>
                  <a:srgbClr val="22201D"/>
                </a:solidFill>
                <a:latin typeface="IBM Plex Sans"/>
                <a:ea typeface="IBM Plex Sans"/>
                <a:cs typeface="IBM Plex Sans"/>
                <a:sym typeface="IBM Plex Sans"/>
              </a:rPr>
              <a:t>acceso</a:t>
            </a:r>
            <a:r>
              <a:rPr lang="en-US" sz="1500" b="1" i="0" u="none" strike="noStrike" cap="none" dirty="0">
                <a:solidFill>
                  <a:srgbClr val="22201D"/>
                </a:solidFill>
                <a:latin typeface="IBM Plex Sans"/>
                <a:ea typeface="IBM Plex Sans"/>
                <a:cs typeface="IBM Plex Sans"/>
                <a:sym typeface="IBM Plex Sans"/>
              </a:rPr>
              <a:t>:</a:t>
            </a:r>
            <a:r>
              <a:rPr lang="en-US" sz="1500" b="0" i="0" u="none" strike="noStrike" cap="none" dirty="0">
                <a:solidFill>
                  <a:srgbClr val="22201D"/>
                </a:solidFill>
                <a:latin typeface="IBM Plex Sans"/>
                <a:ea typeface="IBM Plex Sans"/>
                <a:cs typeface="IBM Plex Sans"/>
                <a:sym typeface="IBM Plex Sans"/>
              </a:rPr>
              <a:t> REST, </a:t>
            </a:r>
            <a:r>
              <a:rPr lang="en-US" sz="1500" b="0" i="0" u="none" strike="noStrike" cap="none" dirty="0" err="1">
                <a:solidFill>
                  <a:srgbClr val="22201D"/>
                </a:solidFill>
                <a:latin typeface="IBM Plex Sans"/>
                <a:ea typeface="IBM Plex Sans"/>
                <a:cs typeface="IBM Plex Sans"/>
                <a:sym typeface="IBM Plex Sans"/>
              </a:rPr>
              <a:t>GraphQL</a:t>
            </a:r>
            <a:r>
              <a:rPr lang="en-US" sz="1500" b="0" i="0" u="none" strike="noStrike" cap="none" dirty="0">
                <a:solidFill>
                  <a:srgbClr val="22201D"/>
                </a:solidFill>
                <a:latin typeface="IBM Plex Sans"/>
                <a:ea typeface="IBM Plex Sans"/>
                <a:cs typeface="IBM Plex Sans"/>
                <a:sym typeface="IBM Plex Sans"/>
              </a:rPr>
              <a:t>, </a:t>
            </a:r>
            <a:r>
              <a:rPr lang="en-US" sz="1500" b="0" i="0" u="none" strike="noStrike" cap="none" dirty="0" err="1">
                <a:solidFill>
                  <a:srgbClr val="22201D"/>
                </a:solidFill>
                <a:latin typeface="IBM Plex Sans"/>
                <a:ea typeface="IBM Plex Sans"/>
                <a:cs typeface="IBM Plex Sans"/>
                <a:sym typeface="IBM Plex Sans"/>
              </a:rPr>
              <a:t>gRPC</a:t>
            </a:r>
            <a:r>
              <a:rPr lang="en-US" sz="1500" b="0" i="0" u="none" strike="noStrike" cap="none" dirty="0">
                <a:solidFill>
                  <a:srgbClr val="22201D"/>
                </a:solidFill>
                <a:latin typeface="IBM Plex Sans"/>
                <a:ea typeface="IBM Plex Sans"/>
                <a:cs typeface="IBM Plex Sans"/>
                <a:sym typeface="IBM Plex Sans"/>
              </a:rPr>
              <a:t> y streaming,  </a:t>
            </a:r>
            <a:r>
              <a:rPr lang="en-US" sz="1500" b="0" i="0" u="none" strike="noStrike" cap="none" dirty="0" err="1">
                <a:solidFill>
                  <a:srgbClr val="22201D"/>
                </a:solidFill>
                <a:latin typeface="IBM Plex Sans"/>
                <a:ea typeface="IBM Plex Sans"/>
                <a:cs typeface="IBM Plex Sans"/>
                <a:sym typeface="IBM Plex Sans"/>
              </a:rPr>
              <a:t>todas</a:t>
            </a:r>
            <a:r>
              <a:rPr lang="en-US" sz="1500" b="0" i="0" u="none" strike="noStrike" cap="none" dirty="0">
                <a:solidFill>
                  <a:srgbClr val="22201D"/>
                </a:solidFill>
                <a:latin typeface="IBM Plex Sans"/>
                <a:ea typeface="IBM Plex Sans"/>
                <a:cs typeface="IBM Plex Sans"/>
                <a:sym typeface="IBM Plex Sans"/>
              </a:rPr>
              <a:t> </a:t>
            </a:r>
            <a:r>
              <a:rPr lang="en-US" sz="1500" b="0" i="0" u="none" strike="noStrike" cap="none" dirty="0" err="1">
                <a:solidFill>
                  <a:srgbClr val="22201D"/>
                </a:solidFill>
                <a:latin typeface="IBM Plex Sans"/>
                <a:ea typeface="IBM Plex Sans"/>
                <a:cs typeface="IBM Plex Sans"/>
                <a:sym typeface="IBM Plex Sans"/>
              </a:rPr>
              <a:t>sobre</a:t>
            </a:r>
            <a:r>
              <a:rPr lang="en-US" sz="1500" b="0" i="0" u="none" strike="noStrike" cap="none" dirty="0">
                <a:solidFill>
                  <a:srgbClr val="22201D"/>
                </a:solidFill>
                <a:latin typeface="IBM Plex Sans"/>
                <a:ea typeface="IBM Plex Sans"/>
                <a:cs typeface="IBM Plex Sans"/>
                <a:sym typeface="IBM Plex Sans"/>
              </a:rPr>
              <a:t> </a:t>
            </a:r>
            <a:r>
              <a:rPr lang="en-US" sz="1500" b="0" i="0" u="none" strike="noStrike" cap="none" dirty="0" err="1">
                <a:solidFill>
                  <a:srgbClr val="22201D"/>
                </a:solidFill>
                <a:latin typeface="IBM Plex Sans"/>
                <a:ea typeface="IBM Plex Sans"/>
                <a:cs typeface="IBM Plex Sans"/>
                <a:sym typeface="IBM Plex Sans"/>
              </a:rPr>
              <a:t>el</a:t>
            </a:r>
            <a:r>
              <a:rPr lang="en-US" sz="1500" b="0" i="0" u="none" strike="noStrike" cap="none" dirty="0">
                <a:solidFill>
                  <a:srgbClr val="22201D"/>
                </a:solidFill>
                <a:latin typeface="IBM Plex Sans"/>
                <a:ea typeface="IBM Plex Sans"/>
                <a:cs typeface="IBM Plex Sans"/>
                <a:sym typeface="IBM Plex Sans"/>
              </a:rPr>
              <a:t> </a:t>
            </a:r>
            <a:r>
              <a:rPr lang="en-US" sz="1500" b="0" i="0" u="none" strike="noStrike" cap="none" dirty="0" err="1">
                <a:solidFill>
                  <a:srgbClr val="22201D"/>
                </a:solidFill>
                <a:latin typeface="IBM Plex Sans"/>
                <a:ea typeface="IBM Plex Sans"/>
                <a:cs typeface="IBM Plex Sans"/>
                <a:sym typeface="IBM Plex Sans"/>
              </a:rPr>
              <a:t>mismo</a:t>
            </a:r>
            <a:r>
              <a:rPr lang="en-US" sz="1500" b="0" i="0" u="none" strike="noStrike" cap="none" dirty="0">
                <a:solidFill>
                  <a:srgbClr val="22201D"/>
                </a:solidFill>
                <a:latin typeface="IBM Plex Sans"/>
                <a:ea typeface="IBM Plex Sans"/>
                <a:cs typeface="IBM Plex Sans"/>
                <a:sym typeface="IBM Plex Sans"/>
              </a:rPr>
              <a:t> </a:t>
            </a:r>
            <a:r>
              <a:rPr lang="en-US" sz="1500" b="0" i="0" u="none" strike="noStrike" cap="none" dirty="0" err="1">
                <a:solidFill>
                  <a:srgbClr val="22201D"/>
                </a:solidFill>
                <a:latin typeface="IBM Plex Sans"/>
                <a:ea typeface="IBM Plex Sans"/>
                <a:cs typeface="IBM Plex Sans"/>
                <a:sym typeface="IBM Plex Sans"/>
              </a:rPr>
              <a:t>modelo</a:t>
            </a:r>
            <a:r>
              <a:rPr lang="en-US" sz="1500" b="0" i="0" u="none" strike="noStrike" cap="none" dirty="0">
                <a:solidFill>
                  <a:srgbClr val="22201D"/>
                </a:solidFill>
                <a:latin typeface="IBM Plex Sans"/>
                <a:ea typeface="IBM Plex Sans"/>
                <a:cs typeface="IBM Plex Sans"/>
                <a:sym typeface="IBM Plex Sans"/>
              </a:rPr>
              <a:t>.</a:t>
            </a:r>
            <a:endParaRPr sz="1500" b="0" i="0" u="none" strike="noStrike" cap="none" dirty="0">
              <a:solidFill>
                <a:schemeClr val="dk1"/>
              </a:solidFill>
              <a:latin typeface="Calibri"/>
              <a:ea typeface="Calibri"/>
              <a:cs typeface="Calibri"/>
              <a:sym typeface="Calibri"/>
            </a:endParaRPr>
          </a:p>
        </p:txBody>
      </p:sp>
      <p:sp>
        <p:nvSpPr>
          <p:cNvPr id="60" name="Google Shape;60;p5"/>
          <p:cNvSpPr/>
          <p:nvPr/>
        </p:nvSpPr>
        <p:spPr>
          <a:xfrm>
            <a:off x="812800" y="4813857"/>
            <a:ext cx="5700455"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1" i="0" u="none" strike="noStrike" cap="none">
                <a:solidFill>
                  <a:srgbClr val="22201D"/>
                </a:solidFill>
                <a:latin typeface="IBM Plex Sans"/>
                <a:ea typeface="IBM Plex Sans"/>
                <a:cs typeface="IBM Plex Sans"/>
                <a:sym typeface="IBM Plex Sans"/>
              </a:rPr>
              <a:t>Apoyo:</a:t>
            </a:r>
            <a:r>
              <a:rPr lang="en-US" sz="1500" b="0" i="0" u="none" strike="noStrike" cap="none">
                <a:solidFill>
                  <a:srgbClr val="22201D"/>
                </a:solidFill>
                <a:latin typeface="IBM Plex Sans"/>
                <a:ea typeface="IBM Plex Sans"/>
                <a:cs typeface="IBM Plex Sans"/>
                <a:sym typeface="IBM Plex Sans"/>
              </a:rPr>
              <a:t> el entrenamiento federado (otra forma de entrenar) y el Data Lake (donde queda todo).</a:t>
            </a:r>
            <a:endParaRPr sz="1500" b="0" i="0" u="none" strike="noStrike" cap="none">
              <a:solidFill>
                <a:schemeClr val="dk1"/>
              </a:solidFill>
              <a:latin typeface="Calibri"/>
              <a:ea typeface="Calibri"/>
              <a:cs typeface="Calibri"/>
              <a:sym typeface="Calibri"/>
            </a:endParaRPr>
          </a:p>
        </p:txBody>
      </p:sp>
      <p:sp>
        <p:nvSpPr>
          <p:cNvPr id="61" name="Google Shape;61;p5"/>
          <p:cNvSpPr/>
          <p:nvPr/>
        </p:nvSpPr>
        <p:spPr>
          <a:xfrm>
            <a:off x="812800" y="5511800"/>
            <a:ext cx="5700455"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1" i="0" u="none" strike="noStrike" cap="none">
                <a:solidFill>
                  <a:srgbClr val="22201D"/>
                </a:solidFill>
                <a:latin typeface="IBM Plex Sans"/>
                <a:ea typeface="IBM Plex Sans"/>
                <a:cs typeface="IBM Plex Sans"/>
                <a:sym typeface="IBM Plex Sans"/>
              </a:rPr>
              <a:t>Transversal:</a:t>
            </a:r>
            <a:r>
              <a:rPr lang="en-US" sz="1500" b="0" i="0" u="none" strike="noStrike" cap="none">
                <a:solidFill>
                  <a:srgbClr val="22201D"/>
                </a:solidFill>
                <a:latin typeface="IBM Plex Sans"/>
                <a:ea typeface="IBM Plex Sans"/>
                <a:cs typeface="IBM Plex Sans"/>
                <a:sym typeface="IBM Plex Sans"/>
              </a:rPr>
              <a:t> la franja de seguridad, igual para las cuatro capas.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66"/>
        <p:cNvGrpSpPr/>
        <p:nvPr/>
      </p:nvGrpSpPr>
      <p:grpSpPr>
        <a:xfrm>
          <a:off x="0" y="0"/>
          <a:ext cx="0" cy="0"/>
          <a:chOff x="0" y="0"/>
          <a:chExt cx="0" cy="0"/>
        </a:xfrm>
      </p:grpSpPr>
      <p:sp>
        <p:nvSpPr>
          <p:cNvPr id="67" name="Google Shape;67;p6"/>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CÓMO SE CONSTRUYÓ</a:t>
            </a:r>
            <a:endParaRPr sz="1300" b="0" i="0" u="none" strike="noStrike" cap="none">
              <a:solidFill>
                <a:schemeClr val="dk1"/>
              </a:solidFill>
              <a:latin typeface="Calibri"/>
              <a:ea typeface="Calibri"/>
              <a:cs typeface="Calibri"/>
              <a:sym typeface="Calibri"/>
            </a:endParaRPr>
          </a:p>
        </p:txBody>
      </p:sp>
      <p:sp>
        <p:nvSpPr>
          <p:cNvPr id="68" name="Google Shape;68;p6"/>
          <p:cNvSpPr/>
          <p:nvPr/>
        </p:nvSpPr>
        <p:spPr>
          <a:xfrm>
            <a:off x="812800" y="1399541"/>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dirty="0">
                <a:solidFill>
                  <a:srgbClr val="22201D"/>
                </a:solidFill>
                <a:latin typeface="IBM Plex Sans"/>
                <a:ea typeface="IBM Plex Sans"/>
                <a:cs typeface="IBM Plex Sans"/>
                <a:sym typeface="IBM Plex Sans"/>
              </a:rPr>
              <a:t>Cuatro </a:t>
            </a:r>
            <a:r>
              <a:rPr lang="en-US" sz="3200" b="1" i="0" u="none" strike="noStrike" cap="none" dirty="0" err="1">
                <a:solidFill>
                  <a:srgbClr val="22201D"/>
                </a:solidFill>
                <a:latin typeface="IBM Plex Sans"/>
                <a:ea typeface="IBM Plex Sans"/>
                <a:cs typeface="IBM Plex Sans"/>
                <a:sym typeface="IBM Plex Sans"/>
              </a:rPr>
              <a:t>reglas</a:t>
            </a:r>
            <a:r>
              <a:rPr lang="en-US" sz="3200" b="1" i="0" u="none" strike="noStrike" cap="none" dirty="0">
                <a:solidFill>
                  <a:srgbClr val="22201D"/>
                </a:solidFill>
                <a:latin typeface="IBM Plex Sans"/>
                <a:ea typeface="IBM Plex Sans"/>
                <a:cs typeface="IBM Plex Sans"/>
                <a:sym typeface="IBM Plex Sans"/>
              </a:rPr>
              <a:t> que se </a:t>
            </a:r>
            <a:r>
              <a:rPr lang="en-US" sz="3200" b="1" i="0" u="none" strike="noStrike" cap="none" dirty="0" err="1">
                <a:solidFill>
                  <a:srgbClr val="22201D"/>
                </a:solidFill>
                <a:latin typeface="IBM Plex Sans"/>
                <a:ea typeface="IBM Plex Sans"/>
                <a:cs typeface="IBM Plex Sans"/>
                <a:sym typeface="IBM Plex Sans"/>
              </a:rPr>
              <a:t>mantuvieron</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en</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todas</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los</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módulos</a:t>
            </a:r>
            <a:endParaRPr sz="3200" b="0" i="0" u="none" strike="noStrike" cap="none" dirty="0">
              <a:solidFill>
                <a:schemeClr val="dk1"/>
              </a:solidFill>
              <a:latin typeface="Calibri"/>
              <a:ea typeface="Calibri"/>
              <a:cs typeface="Calibri"/>
              <a:sym typeface="Calibri"/>
            </a:endParaRPr>
          </a:p>
        </p:txBody>
      </p:sp>
      <p:sp>
        <p:nvSpPr>
          <p:cNvPr id="69" name="Google Shape;69;p6"/>
          <p:cNvSpPr/>
          <p:nvPr/>
        </p:nvSpPr>
        <p:spPr>
          <a:xfrm>
            <a:off x="815975" y="2225675"/>
            <a:ext cx="5175250" cy="1543050"/>
          </a:xfrm>
          <a:prstGeom prst="roundRect">
            <a:avLst>
              <a:gd name="adj" fmla="val 4733"/>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1046480" y="2456180"/>
            <a:ext cx="4855667"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700"/>
              <a:buFont typeface="IBM Plex Sans"/>
              <a:buNone/>
            </a:pPr>
            <a:r>
              <a:rPr lang="en-US" sz="1700" b="1" i="0" u="none" strike="noStrike" cap="none">
                <a:solidFill>
                  <a:srgbClr val="22201D"/>
                </a:solidFill>
                <a:latin typeface="IBM Plex Sans"/>
                <a:ea typeface="IBM Plex Sans"/>
                <a:cs typeface="IBM Plex Sans"/>
                <a:sym typeface="IBM Plex Sans"/>
              </a:rPr>
              <a:t>Reusar sin copiar</a:t>
            </a:r>
            <a:endParaRPr sz="1700" b="0" i="0" u="none" strike="noStrike" cap="none">
              <a:solidFill>
                <a:schemeClr val="dk1"/>
              </a:solidFill>
              <a:latin typeface="Calibri"/>
              <a:ea typeface="Calibri"/>
              <a:cs typeface="Calibri"/>
              <a:sym typeface="Calibri"/>
            </a:endParaRPr>
          </a:p>
        </p:txBody>
      </p:sp>
      <p:sp>
        <p:nvSpPr>
          <p:cNvPr id="71" name="Google Shape;71;p6"/>
          <p:cNvSpPr/>
          <p:nvPr/>
        </p:nvSpPr>
        <p:spPr>
          <a:xfrm>
            <a:off x="1046480" y="2791461"/>
            <a:ext cx="4855667" cy="7721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400"/>
              <a:buFont typeface="IBM Plex Sans"/>
              <a:buNone/>
            </a:pPr>
            <a:r>
              <a:rPr lang="en-US" sz="1400" b="0" i="0" u="none" strike="noStrike" cap="none">
                <a:solidFill>
                  <a:srgbClr val="5E5A54"/>
                </a:solidFill>
                <a:latin typeface="IBM Plex Sans"/>
                <a:ea typeface="IBM Plex Sans"/>
                <a:cs typeface="IBM Plex Sans"/>
                <a:sym typeface="IBM Plex Sans"/>
              </a:rPr>
              <a:t>Las capas usan el preprocesamiento y el scoring de MLOps 1. Los archivos compartidos se copian al construir cada imagen, no en el repo.</a:t>
            </a:r>
            <a:endParaRPr sz="1400" b="0" i="0" u="none" strike="noStrike" cap="none">
              <a:solidFill>
                <a:schemeClr val="dk1"/>
              </a:solidFill>
              <a:latin typeface="Calibri"/>
              <a:ea typeface="Calibri"/>
              <a:cs typeface="Calibri"/>
              <a:sym typeface="Calibri"/>
            </a:endParaRPr>
          </a:p>
        </p:txBody>
      </p:sp>
      <p:sp>
        <p:nvSpPr>
          <p:cNvPr id="72" name="Google Shape;72;p6"/>
          <p:cNvSpPr/>
          <p:nvPr/>
        </p:nvSpPr>
        <p:spPr>
          <a:xfrm>
            <a:off x="6200775" y="2225675"/>
            <a:ext cx="5175250" cy="1543050"/>
          </a:xfrm>
          <a:prstGeom prst="roundRect">
            <a:avLst>
              <a:gd name="adj" fmla="val 4733"/>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a:off x="6431280" y="2456180"/>
            <a:ext cx="4855667"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700"/>
              <a:buFont typeface="IBM Plex Sans"/>
              <a:buNone/>
            </a:pPr>
            <a:r>
              <a:rPr lang="en-US" sz="1700" b="1" i="0" u="none" strike="noStrike" cap="none">
                <a:solidFill>
                  <a:srgbClr val="22201D"/>
                </a:solidFill>
                <a:latin typeface="IBM Plex Sans"/>
                <a:ea typeface="IBM Plex Sans"/>
                <a:cs typeface="IBM Plex Sans"/>
                <a:sym typeface="IBM Plex Sans"/>
              </a:rPr>
              <a:t>Sumarse al stack, no duplicarlo</a:t>
            </a:r>
            <a:endParaRPr sz="1700" b="0" i="0" u="none" strike="noStrike" cap="none">
              <a:solidFill>
                <a:schemeClr val="dk1"/>
              </a:solidFill>
              <a:latin typeface="Calibri"/>
              <a:ea typeface="Calibri"/>
              <a:cs typeface="Calibri"/>
              <a:sym typeface="Calibri"/>
            </a:endParaRPr>
          </a:p>
        </p:txBody>
      </p:sp>
      <p:sp>
        <p:nvSpPr>
          <p:cNvPr id="74" name="Google Shape;74;p6"/>
          <p:cNvSpPr/>
          <p:nvPr/>
        </p:nvSpPr>
        <p:spPr>
          <a:xfrm>
            <a:off x="6431280" y="2791461"/>
            <a:ext cx="4855667"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400"/>
              <a:buFont typeface="IBM Plex Sans"/>
              <a:buNone/>
            </a:pPr>
            <a:r>
              <a:rPr lang="en-US" sz="1400" b="0" i="0" u="none" strike="noStrike" cap="none">
                <a:solidFill>
                  <a:srgbClr val="5E5A54"/>
                </a:solidFill>
                <a:latin typeface="IBM Plex Sans"/>
                <a:ea typeface="IBM Plex Sans"/>
                <a:cs typeface="IBM Plex Sans"/>
                <a:sym typeface="IBM Plex Sans"/>
              </a:rPr>
              <a:t>Un compose propio que se une a la red de MLOps 1 y usa su MLflow y su MinIO.</a:t>
            </a:r>
            <a:endParaRPr sz="1400" b="0" i="0" u="none" strike="noStrike" cap="none">
              <a:solidFill>
                <a:schemeClr val="dk1"/>
              </a:solidFill>
              <a:latin typeface="Calibri"/>
              <a:ea typeface="Calibri"/>
              <a:cs typeface="Calibri"/>
              <a:sym typeface="Calibri"/>
            </a:endParaRPr>
          </a:p>
        </p:txBody>
      </p:sp>
      <p:sp>
        <p:nvSpPr>
          <p:cNvPr id="75" name="Google Shape;75;p6"/>
          <p:cNvSpPr/>
          <p:nvPr/>
        </p:nvSpPr>
        <p:spPr>
          <a:xfrm>
            <a:off x="815975" y="3978275"/>
            <a:ext cx="5175250" cy="1294130"/>
          </a:xfrm>
          <a:prstGeom prst="roundRect">
            <a:avLst>
              <a:gd name="adj" fmla="val 5643"/>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1046480" y="4208780"/>
            <a:ext cx="4855667"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700"/>
              <a:buFont typeface="IBM Plex Sans"/>
              <a:buNone/>
            </a:pPr>
            <a:r>
              <a:rPr lang="en-US" sz="1700" b="1" i="0" u="none" strike="noStrike" cap="none">
                <a:solidFill>
                  <a:srgbClr val="22201D"/>
                </a:solidFill>
                <a:latin typeface="IBM Plex Sans"/>
                <a:ea typeface="IBM Plex Sans"/>
                <a:cs typeface="IBM Plex Sans"/>
                <a:sym typeface="IBM Plex Sans"/>
              </a:rPr>
              <a:t>Una clase, un paso</a:t>
            </a:r>
            <a:endParaRPr sz="1700" b="0" i="0" u="none" strike="noStrike" cap="none">
              <a:solidFill>
                <a:schemeClr val="dk1"/>
              </a:solidFill>
              <a:latin typeface="Calibri"/>
              <a:ea typeface="Calibri"/>
              <a:cs typeface="Calibri"/>
              <a:sym typeface="Calibri"/>
            </a:endParaRPr>
          </a:p>
        </p:txBody>
      </p:sp>
      <p:sp>
        <p:nvSpPr>
          <p:cNvPr id="77" name="Google Shape;77;p6"/>
          <p:cNvSpPr/>
          <p:nvPr/>
        </p:nvSpPr>
        <p:spPr>
          <a:xfrm>
            <a:off x="1046480" y="4544061"/>
            <a:ext cx="4855667"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400"/>
              <a:buFont typeface="IBM Plex Sans"/>
              <a:buNone/>
            </a:pPr>
            <a:r>
              <a:rPr lang="en-US" sz="1400" b="0" i="0" u="none" strike="noStrike" cap="none">
                <a:solidFill>
                  <a:srgbClr val="5E5A54"/>
                </a:solidFill>
                <a:latin typeface="IBM Plex Sans"/>
                <a:ea typeface="IBM Plex Sans"/>
                <a:cs typeface="IBM Plex Sans"/>
                <a:sym typeface="IBM Plex Sans"/>
              </a:rPr>
              <a:t>Cada mini-TP se practicó primero en un notebook y después se llevó al TP, sin romper lo anterior.</a:t>
            </a:r>
            <a:endParaRPr sz="1400" b="0" i="0" u="none" strike="noStrike" cap="none">
              <a:solidFill>
                <a:schemeClr val="dk1"/>
              </a:solidFill>
              <a:latin typeface="Calibri"/>
              <a:ea typeface="Calibri"/>
              <a:cs typeface="Calibri"/>
              <a:sym typeface="Calibri"/>
            </a:endParaRPr>
          </a:p>
        </p:txBody>
      </p:sp>
      <p:sp>
        <p:nvSpPr>
          <p:cNvPr id="78" name="Google Shape;78;p6"/>
          <p:cNvSpPr/>
          <p:nvPr/>
        </p:nvSpPr>
        <p:spPr>
          <a:xfrm>
            <a:off x="6200775" y="3978275"/>
            <a:ext cx="5175250" cy="1294130"/>
          </a:xfrm>
          <a:prstGeom prst="roundRect">
            <a:avLst>
              <a:gd name="adj" fmla="val 5643"/>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6431280" y="4208780"/>
            <a:ext cx="4855667"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700"/>
              <a:buFont typeface="IBM Plex Sans"/>
              <a:buNone/>
            </a:pPr>
            <a:r>
              <a:rPr lang="en-US" sz="1700" b="1" i="0" u="none" strike="noStrike" cap="none">
                <a:solidFill>
                  <a:srgbClr val="22201D"/>
                </a:solidFill>
                <a:latin typeface="IBM Plex Sans"/>
                <a:ea typeface="IBM Plex Sans"/>
                <a:cs typeface="IBM Plex Sans"/>
                <a:sym typeface="IBM Plex Sans"/>
              </a:rPr>
              <a:t>Todo en Docker</a:t>
            </a:r>
            <a:endParaRPr sz="1700" b="0" i="0" u="none" strike="noStrike" cap="none">
              <a:solidFill>
                <a:schemeClr val="dk1"/>
              </a:solidFill>
              <a:latin typeface="Calibri"/>
              <a:ea typeface="Calibri"/>
              <a:cs typeface="Calibri"/>
              <a:sym typeface="Calibri"/>
            </a:endParaRPr>
          </a:p>
        </p:txBody>
      </p:sp>
      <p:sp>
        <p:nvSpPr>
          <p:cNvPr id="80" name="Google Shape;80;p6"/>
          <p:cNvSpPr/>
          <p:nvPr/>
        </p:nvSpPr>
        <p:spPr>
          <a:xfrm>
            <a:off x="6431280" y="4544061"/>
            <a:ext cx="4855667"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400"/>
              <a:buFont typeface="IBM Plex Sans"/>
              <a:buNone/>
            </a:pPr>
            <a:r>
              <a:rPr lang="en-US" sz="1400" b="0" i="0" u="none" strike="noStrike" cap="none">
                <a:solidFill>
                  <a:srgbClr val="5E5A54"/>
                </a:solidFill>
                <a:latin typeface="IBM Plex Sans"/>
                <a:ea typeface="IBM Plex Sans"/>
                <a:cs typeface="IBM Plex Sans"/>
                <a:sym typeface="IBM Plex Sans"/>
              </a:rPr>
              <a:t>Lo que corre a mano (federado, lake, seguridad, demo) va en profiles: no arranca con un up.</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85"/>
        <p:cNvGrpSpPr/>
        <p:nvPr/>
      </p:nvGrpSpPr>
      <p:grpSpPr>
        <a:xfrm>
          <a:off x="0" y="0"/>
          <a:ext cx="0" cy="0"/>
          <a:chOff x="0" y="0"/>
          <a:chExt cx="0" cy="0"/>
        </a:xfrm>
      </p:grpSpPr>
      <p:sp>
        <p:nvSpPr>
          <p:cNvPr id="86" name="Google Shape;86;p7"/>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CLASES 1 A 4 · CAPAS DE ACCESO</a:t>
            </a:r>
            <a:endParaRPr sz="1300" b="0" i="0" u="none" strike="noStrike" cap="none">
              <a:solidFill>
                <a:schemeClr val="dk1"/>
              </a:solidFill>
              <a:latin typeface="Calibri"/>
              <a:ea typeface="Calibri"/>
              <a:cs typeface="Calibri"/>
              <a:sym typeface="Calibri"/>
            </a:endParaRPr>
          </a:p>
        </p:txBody>
      </p:sp>
      <p:sp>
        <p:nvSpPr>
          <p:cNvPr id="87" name="Google Shape;87;p7"/>
          <p:cNvSpPr/>
          <p:nvPr/>
        </p:nvSpPr>
        <p:spPr>
          <a:xfrm>
            <a:off x="812800" y="1348739"/>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dirty="0" err="1">
                <a:solidFill>
                  <a:srgbClr val="22201D"/>
                </a:solidFill>
                <a:latin typeface="IBM Plex Sans"/>
                <a:ea typeface="IBM Plex Sans"/>
                <a:cs typeface="IBM Plex Sans"/>
                <a:sym typeface="IBM Plex Sans"/>
              </a:rPr>
              <a:t>Cada</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acceso</a:t>
            </a:r>
            <a:r>
              <a:rPr lang="en-US" sz="3200" b="1" i="0" u="none" strike="noStrike" cap="none" dirty="0">
                <a:solidFill>
                  <a:srgbClr val="22201D"/>
                </a:solidFill>
                <a:latin typeface="IBM Plex Sans"/>
                <a:ea typeface="IBM Plex Sans"/>
                <a:cs typeface="IBM Plex Sans"/>
                <a:sym typeface="IBM Plex Sans"/>
              </a:rPr>
              <a:t>, para un </a:t>
            </a:r>
            <a:r>
              <a:rPr lang="en-US" sz="3200" b="1" i="0" u="none" strike="noStrike" cap="none" dirty="0" err="1">
                <a:solidFill>
                  <a:srgbClr val="22201D"/>
                </a:solidFill>
                <a:latin typeface="IBM Plex Sans"/>
                <a:ea typeface="IBM Plex Sans"/>
                <a:cs typeface="IBM Plex Sans"/>
                <a:sym typeface="IBM Plex Sans"/>
              </a:rPr>
              <a:t>cliente</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distinto</a:t>
            </a:r>
            <a:endParaRPr sz="3200" b="0" i="0" u="none" strike="noStrike" cap="none" dirty="0">
              <a:solidFill>
                <a:schemeClr val="dk1"/>
              </a:solidFill>
              <a:latin typeface="Calibri"/>
              <a:ea typeface="Calibri"/>
              <a:cs typeface="Calibri"/>
              <a:sym typeface="Calibri"/>
            </a:endParaRPr>
          </a:p>
        </p:txBody>
      </p:sp>
      <p:graphicFrame>
        <p:nvGraphicFramePr>
          <p:cNvPr id="88" name="Google Shape;88;p7"/>
          <p:cNvGraphicFramePr/>
          <p:nvPr/>
        </p:nvGraphicFramePr>
        <p:xfrm>
          <a:off x="822960" y="2131060"/>
          <a:ext cx="10556225" cy="1968135"/>
        </p:xfrm>
        <a:graphic>
          <a:graphicData uri="http://schemas.openxmlformats.org/drawingml/2006/table">
            <a:tbl>
              <a:tblPr>
                <a:noFill/>
                <a:tableStyleId>{45E3D7B9-5B47-45D5-BAFA-1578B30BF9EB}</a:tableStyleId>
              </a:tblPr>
              <a:tblGrid>
                <a:gridCol w="1794550">
                  <a:extLst>
                    <a:ext uri="{9D8B030D-6E8A-4147-A177-3AD203B41FA5}">
                      <a16:colId xmlns:a16="http://schemas.microsoft.com/office/drawing/2014/main" val="20000"/>
                    </a:ext>
                  </a:extLst>
                </a:gridCol>
                <a:gridCol w="2111250">
                  <a:extLst>
                    <a:ext uri="{9D8B030D-6E8A-4147-A177-3AD203B41FA5}">
                      <a16:colId xmlns:a16="http://schemas.microsoft.com/office/drawing/2014/main" val="20001"/>
                    </a:ext>
                  </a:extLst>
                </a:gridCol>
                <a:gridCol w="2850175">
                  <a:extLst>
                    <a:ext uri="{9D8B030D-6E8A-4147-A177-3AD203B41FA5}">
                      <a16:colId xmlns:a16="http://schemas.microsoft.com/office/drawing/2014/main" val="20002"/>
                    </a:ext>
                  </a:extLst>
                </a:gridCol>
                <a:gridCol w="3800250">
                  <a:extLst>
                    <a:ext uri="{9D8B030D-6E8A-4147-A177-3AD203B41FA5}">
                      <a16:colId xmlns:a16="http://schemas.microsoft.com/office/drawing/2014/main" val="20003"/>
                    </a:ext>
                  </a:extLst>
                </a:gridCol>
              </a:tblGrid>
              <a:tr h="383550">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b="1" u="none" strike="noStrike" cap="none">
                          <a:solidFill>
                            <a:srgbClr val="22201D"/>
                          </a:solidFill>
                          <a:latin typeface="IBM Plex Sans"/>
                          <a:ea typeface="IBM Plex Sans"/>
                          <a:cs typeface="IBM Plex Sans"/>
                          <a:sym typeface="IBM Plex Sans"/>
                        </a:rPr>
                        <a:t>Capa</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b="1" u="none" strike="noStrike" cap="none">
                          <a:solidFill>
                            <a:srgbClr val="22201D"/>
                          </a:solidFill>
                          <a:latin typeface="IBM Plex Sans"/>
                          <a:ea typeface="IBM Plex Sans"/>
                          <a:cs typeface="IBM Plex Sans"/>
                          <a:sym typeface="IBM Plex Sans"/>
                        </a:rPr>
                        <a:t>Dónde</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AB7B0"/>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b="1" u="none" strike="noStrike" cap="none">
                          <a:solidFill>
                            <a:srgbClr val="22201D"/>
                          </a:solidFill>
                          <a:latin typeface="IBM Plex Sans"/>
                          <a:ea typeface="IBM Plex Sans"/>
                          <a:cs typeface="IBM Plex Sans"/>
                          <a:sym typeface="IBM Plex Sans"/>
                        </a:rPr>
                        <a:t>Pensada para</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AB7B0"/>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b="1" u="none" strike="noStrike" cap="none">
                          <a:solidFill>
                            <a:srgbClr val="22201D"/>
                          </a:solidFill>
                          <a:latin typeface="IBM Plex Sans"/>
                          <a:ea typeface="IBM Plex Sans"/>
                          <a:cs typeface="IBM Plex Sans"/>
                          <a:sym typeface="IBM Plex Sans"/>
                        </a:rPr>
                        <a:t>Patrón</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AB7B0"/>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extLst>
                  <a:ext uri="{0D108BD9-81ED-4DB2-BD59-A6C34878D82A}">
                    <a16:rowId xmlns:a16="http://schemas.microsoft.com/office/drawing/2014/main" val="10000"/>
                  </a:ext>
                </a:extLst>
              </a:tr>
              <a:tr h="383550">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REST</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puerto 8010</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terceros, integraciones</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petición → respuesta, JSON fijo</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1"/>
                  </a:ext>
                </a:extLst>
              </a:tr>
              <a:tr h="383550">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GraphQL</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puerto 8001</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dashboard interno</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el cliente elige los campos</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extLst>
                  <a:ext uri="{0D108BD9-81ED-4DB2-BD59-A6C34878D82A}">
                    <a16:rowId xmlns:a16="http://schemas.microsoft.com/office/drawing/2014/main" val="10002"/>
                  </a:ext>
                </a:extLst>
              </a:tr>
              <a:tr h="383550">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gRPC</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puerto 50051</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servicio a servicio</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binario, contrato .proto, lotes</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3"/>
                  </a:ext>
                </a:extLst>
              </a:tr>
              <a:tr h="383550">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Streaming</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C4C2BE"/>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topic autos</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eventos en vivo</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400"/>
                        <a:buFont typeface="IBM Plex Sans"/>
                        <a:buNone/>
                      </a:pPr>
                      <a:r>
                        <a:rPr lang="en-US" sz="1400" u="none" strike="noStrike" cap="none">
                          <a:solidFill>
                            <a:srgbClr val="22201D"/>
                          </a:solidFill>
                          <a:latin typeface="IBM Plex Sans"/>
                          <a:ea typeface="IBM Plex Sans"/>
                          <a:cs typeface="IBM Plex Sans"/>
                          <a:sym typeface="IBM Plex Sans"/>
                        </a:rPr>
                        <a:t>nadie pregunta: se puntúa cada evento</a:t>
                      </a:r>
                      <a:endParaRPr sz="1400" u="none" strike="noStrike" cap="none">
                        <a:latin typeface="IBM Plex Sans"/>
                        <a:ea typeface="IBM Plex Sans"/>
                        <a:cs typeface="IBM Plex Sans"/>
                        <a:sym typeface="IBM Plex Sans"/>
                      </a:endParaRPr>
                    </a:p>
                  </a:txBody>
                  <a:tcPr marL="62225" marR="62225" marT="62225" marB="6222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extLst>
                  <a:ext uri="{0D108BD9-81ED-4DB2-BD59-A6C34878D82A}">
                    <a16:rowId xmlns:a16="http://schemas.microsoft.com/office/drawing/2014/main" val="10004"/>
                  </a:ext>
                </a:extLst>
              </a:tr>
            </a:tbl>
          </a:graphicData>
        </a:graphic>
      </p:graphicFrame>
      <p:sp>
        <p:nvSpPr>
          <p:cNvPr id="89" name="Google Shape;89;p7"/>
          <p:cNvSpPr/>
          <p:nvPr/>
        </p:nvSpPr>
        <p:spPr>
          <a:xfrm>
            <a:off x="812800" y="4353561"/>
            <a:ext cx="10883392" cy="5943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600"/>
              <a:buFont typeface="IBM Plex Sans"/>
              <a:buNone/>
            </a:pPr>
            <a:r>
              <a:rPr lang="en-US" sz="1600" b="0" i="0" u="none" strike="noStrike" cap="none">
                <a:solidFill>
                  <a:srgbClr val="22201D"/>
                </a:solidFill>
                <a:latin typeface="IBM Plex Sans"/>
                <a:ea typeface="IBM Plex Sans"/>
                <a:cs typeface="IBM Plex Sans"/>
                <a:sym typeface="IBM Plex Sans"/>
              </a:rPr>
              <a:t>Las cuatro cargan el </a:t>
            </a:r>
            <a:r>
              <a:rPr lang="en-US" sz="1600" b="1" i="0" u="none" strike="noStrike" cap="none">
                <a:solidFill>
                  <a:srgbClr val="22201D"/>
                </a:solidFill>
                <a:latin typeface="IBM Plex Sans"/>
                <a:ea typeface="IBM Plex Sans"/>
                <a:cs typeface="IBM Plex Sans"/>
                <a:sym typeface="IBM Plex Sans"/>
              </a:rPr>
              <a:t>mismo</a:t>
            </a:r>
            <a:r>
              <a:rPr lang="en-US" sz="1600" b="0" i="0" u="none" strike="noStrike" cap="none">
                <a:solidFill>
                  <a:srgbClr val="22201D"/>
                </a:solidFill>
                <a:latin typeface="IBM Plex Sans"/>
                <a:ea typeface="IBM Plex Sans"/>
                <a:cs typeface="IBM Plex Sans"/>
                <a:sym typeface="IBM Plex Sans"/>
              </a:rPr>
              <a:t> modelo de MLflow con el </a:t>
            </a:r>
            <a:r>
              <a:rPr lang="en-US" sz="1600" b="1" i="0" u="none" strike="noStrike" cap="none">
                <a:solidFill>
                  <a:srgbClr val="22201D"/>
                </a:solidFill>
                <a:latin typeface="IBM Plex Sans"/>
                <a:ea typeface="IBM Plex Sans"/>
                <a:cs typeface="IBM Plex Sans"/>
                <a:sym typeface="IBM Plex Sans"/>
              </a:rPr>
              <a:t>mismo</a:t>
            </a:r>
            <a:r>
              <a:rPr lang="en-US" sz="1600" b="0" i="0" u="none" strike="noStrike" cap="none">
                <a:solidFill>
                  <a:srgbClr val="22201D"/>
                </a:solidFill>
                <a:latin typeface="IBM Plex Sans"/>
                <a:ea typeface="IBM Plex Sans"/>
                <a:cs typeface="IBM Plex Sans"/>
                <a:sym typeface="IBM Plex Sans"/>
              </a:rPr>
              <a:t> código de predicción: cambia el transporte, no el modelo.</a:t>
            </a:r>
            <a:endParaRPr sz="1600" b="0" i="0" u="none" strike="noStrike" cap="none">
              <a:solidFill>
                <a:schemeClr val="dk1"/>
              </a:solidFill>
              <a:latin typeface="Calibri"/>
              <a:ea typeface="Calibri"/>
              <a:cs typeface="Calibri"/>
              <a:sym typeface="Calibri"/>
            </a:endParaRPr>
          </a:p>
        </p:txBody>
      </p:sp>
      <p:sp>
        <p:nvSpPr>
          <p:cNvPr id="90" name="Google Shape;90;p7"/>
          <p:cNvSpPr/>
          <p:nvPr/>
        </p:nvSpPr>
        <p:spPr>
          <a:xfrm>
            <a:off x="812800" y="6238239"/>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F897E"/>
              </a:buClr>
              <a:buSzPts val="1200"/>
              <a:buFont typeface="IBM Plex Sans"/>
              <a:buNone/>
            </a:pPr>
            <a:r>
              <a:rPr lang="en-US" sz="1200" b="0" i="0" u="none" strike="noStrike" cap="none">
                <a:solidFill>
                  <a:srgbClr val="8F897E"/>
                </a:solidFill>
                <a:latin typeface="IBM Plex Sans"/>
                <a:ea typeface="IBM Plex Sans"/>
                <a:cs typeface="IBM Plex Sans"/>
                <a:sym typeface="IBM Plex Sans"/>
              </a:rPr>
              <a:t>Todas en el mismo compose, sobre la red de MLOps 1</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95"/>
        <p:cNvGrpSpPr/>
        <p:nvPr/>
      </p:nvGrpSpPr>
      <p:grpSpPr>
        <a:xfrm>
          <a:off x="0" y="0"/>
          <a:ext cx="0" cy="0"/>
          <a:chOff x="0" y="0"/>
          <a:chExt cx="0" cy="0"/>
        </a:xfrm>
      </p:grpSpPr>
      <p:sp>
        <p:nvSpPr>
          <p:cNvPr id="96" name="Google Shape;96;p8"/>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CLASES 1 Y 2</a:t>
            </a:r>
            <a:endParaRPr sz="1300" b="0" i="0" u="none" strike="noStrike" cap="none">
              <a:solidFill>
                <a:schemeClr val="dk1"/>
              </a:solidFill>
              <a:latin typeface="Calibri"/>
              <a:ea typeface="Calibri"/>
              <a:cs typeface="Calibri"/>
              <a:sym typeface="Calibri"/>
            </a:endParaRPr>
          </a:p>
        </p:txBody>
      </p:sp>
      <p:sp>
        <p:nvSpPr>
          <p:cNvPr id="97" name="Google Shape;97;p8"/>
          <p:cNvSpPr/>
          <p:nvPr/>
        </p:nvSpPr>
        <p:spPr>
          <a:xfrm>
            <a:off x="812800" y="1348739"/>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a:solidFill>
                  <a:srgbClr val="22201D"/>
                </a:solidFill>
                <a:latin typeface="IBM Plex Sans"/>
                <a:ea typeface="IBM Plex Sans"/>
                <a:cs typeface="IBM Plex Sans"/>
                <a:sym typeface="IBM Plex Sans"/>
              </a:rPr>
              <a:t>REST se reusa; GraphQL se arma a medida</a:t>
            </a:r>
            <a:endParaRPr sz="3200" b="0" i="0" u="none" strike="noStrike" cap="none">
              <a:solidFill>
                <a:schemeClr val="dk1"/>
              </a:solidFill>
              <a:latin typeface="Calibri"/>
              <a:ea typeface="Calibri"/>
              <a:cs typeface="Calibri"/>
              <a:sym typeface="Calibri"/>
            </a:endParaRPr>
          </a:p>
        </p:txBody>
      </p:sp>
      <p:sp>
        <p:nvSpPr>
          <p:cNvPr id="98" name="Google Shape;98;p8"/>
          <p:cNvSpPr/>
          <p:nvPr/>
        </p:nvSpPr>
        <p:spPr>
          <a:xfrm>
            <a:off x="815975" y="2124075"/>
            <a:ext cx="5149850" cy="2609850"/>
          </a:xfrm>
          <a:prstGeom prst="roundRect">
            <a:avLst>
              <a:gd name="adj" fmla="val 2798"/>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8"/>
          <p:cNvSpPr/>
          <p:nvPr/>
        </p:nvSpPr>
        <p:spPr>
          <a:xfrm>
            <a:off x="1071880" y="2379982"/>
            <a:ext cx="4777181" cy="330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E5E94"/>
              </a:buClr>
              <a:buSzPts val="2000"/>
              <a:buFont typeface="IBM Plex Sans"/>
              <a:buNone/>
            </a:pPr>
            <a:r>
              <a:rPr lang="en-US" sz="2000" b="1" i="0" u="none" strike="noStrike" cap="none">
                <a:solidFill>
                  <a:srgbClr val="2E5E94"/>
                </a:solidFill>
                <a:latin typeface="IBM Plex Sans"/>
                <a:ea typeface="IBM Plex Sans"/>
                <a:cs typeface="IBM Plex Sans"/>
                <a:sym typeface="IBM Plex Sans"/>
              </a:rPr>
              <a:t>REST · 8010</a:t>
            </a:r>
            <a:endParaRPr sz="2000" b="0" i="0" u="none" strike="noStrike" cap="none">
              <a:solidFill>
                <a:schemeClr val="dk1"/>
              </a:solidFill>
              <a:latin typeface="Calibri"/>
              <a:ea typeface="Calibri"/>
              <a:cs typeface="Calibri"/>
              <a:sym typeface="Calibri"/>
            </a:endParaRPr>
          </a:p>
        </p:txBody>
      </p:sp>
      <p:sp>
        <p:nvSpPr>
          <p:cNvPr id="100" name="Google Shape;100;p8"/>
          <p:cNvSpPr/>
          <p:nvPr/>
        </p:nvSpPr>
        <p:spPr>
          <a:xfrm>
            <a:off x="1071880" y="2811782"/>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Es la API de MLOps 1, sin reescribirla: /predict, /model/info, /predictions/recent, /health.</a:t>
            </a:r>
            <a:endParaRPr sz="1400" b="0" i="0" u="none" strike="noStrike" cap="none">
              <a:solidFill>
                <a:schemeClr val="dk1"/>
              </a:solidFill>
              <a:latin typeface="Calibri"/>
              <a:ea typeface="Calibri"/>
              <a:cs typeface="Calibri"/>
              <a:sym typeface="Calibri"/>
            </a:endParaRPr>
          </a:p>
        </p:txBody>
      </p:sp>
      <p:sp>
        <p:nvSpPr>
          <p:cNvPr id="101" name="Google Shape;101;p8"/>
          <p:cNvSpPr/>
          <p:nvPr/>
        </p:nvSpPr>
        <p:spPr>
          <a:xfrm>
            <a:off x="1071880" y="3436621"/>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Su imagen solo cambia predict.py y la envuelve con la capa de seguridad.</a:t>
            </a:r>
            <a:endParaRPr sz="1400" b="0" i="0" u="none" strike="noStrike" cap="none">
              <a:solidFill>
                <a:schemeClr val="dk1"/>
              </a:solidFill>
              <a:latin typeface="Calibri"/>
              <a:ea typeface="Calibri"/>
              <a:cs typeface="Calibri"/>
              <a:sym typeface="Calibri"/>
            </a:endParaRPr>
          </a:p>
        </p:txBody>
      </p:sp>
      <p:sp>
        <p:nvSpPr>
          <p:cNvPr id="102" name="Google Shape;102;p8"/>
          <p:cNvSpPr/>
          <p:nvPr/>
        </p:nvSpPr>
        <p:spPr>
          <a:xfrm>
            <a:off x="1071880" y="4061461"/>
            <a:ext cx="4638040" cy="416560"/>
          </a:xfrm>
          <a:prstGeom prst="roundRect">
            <a:avLst>
              <a:gd name="adj" fmla="val 12195"/>
            </a:avLst>
          </a:prstGeom>
          <a:solidFill>
            <a:srgbClr val="F0EDE6"/>
          </a:solidFill>
          <a:ln>
            <a:noFill/>
          </a:ln>
        </p:spPr>
        <p:txBody>
          <a:bodyPr spcFirstLastPara="1" wrap="square" lIns="112100" tIns="86700" rIns="0" bIns="61300" anchor="t" anchorCtr="0">
            <a:noAutofit/>
          </a:bodyPr>
          <a:lstStyle/>
          <a:p>
            <a:pPr marL="0" marR="0" lvl="0" indent="0" algn="l" rtl="0">
              <a:lnSpc>
                <a:spcPct val="140000"/>
              </a:lnSpc>
              <a:spcBef>
                <a:spcPts val="0"/>
              </a:spcBef>
              <a:spcAft>
                <a:spcPts val="0"/>
              </a:spcAft>
              <a:buClr>
                <a:srgbClr val="5E5A54"/>
              </a:buClr>
              <a:buSzPts val="1200"/>
              <a:buFont typeface="JetBrains Mono"/>
              <a:buNone/>
            </a:pPr>
            <a:r>
              <a:rPr lang="en-US" sz="1200" b="0" i="0" u="none" strike="noStrike" cap="none">
                <a:solidFill>
                  <a:srgbClr val="5E5A54"/>
                </a:solidFill>
                <a:latin typeface="JetBrains Mono"/>
                <a:ea typeface="JetBrains Mono"/>
                <a:cs typeface="JetBrains Mono"/>
                <a:sym typeface="JetBrains Mono"/>
              </a:rPr>
              <a:t>POST /predict → precio + versión</a:t>
            </a:r>
            <a:endParaRPr sz="1200" b="0" i="0" u="none" strike="noStrike" cap="none">
              <a:solidFill>
                <a:schemeClr val="dk1"/>
              </a:solidFill>
              <a:latin typeface="Calibri"/>
              <a:ea typeface="Calibri"/>
              <a:cs typeface="Calibri"/>
              <a:sym typeface="Calibri"/>
            </a:endParaRPr>
          </a:p>
        </p:txBody>
      </p:sp>
      <p:sp>
        <p:nvSpPr>
          <p:cNvPr id="103" name="Google Shape;103;p8"/>
          <p:cNvSpPr/>
          <p:nvPr/>
        </p:nvSpPr>
        <p:spPr>
          <a:xfrm>
            <a:off x="6226175" y="2124075"/>
            <a:ext cx="5149850" cy="2609850"/>
          </a:xfrm>
          <a:prstGeom prst="roundRect">
            <a:avLst>
              <a:gd name="adj" fmla="val 2798"/>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8"/>
          <p:cNvSpPr/>
          <p:nvPr/>
        </p:nvSpPr>
        <p:spPr>
          <a:xfrm>
            <a:off x="6482080" y="2379982"/>
            <a:ext cx="4777181" cy="330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8A4A9C"/>
              </a:buClr>
              <a:buSzPts val="2000"/>
              <a:buFont typeface="IBM Plex Sans"/>
              <a:buNone/>
            </a:pPr>
            <a:r>
              <a:rPr lang="en-US" sz="2000" b="1" i="0" u="none" strike="noStrike" cap="none">
                <a:solidFill>
                  <a:srgbClr val="8A4A9C"/>
                </a:solidFill>
                <a:latin typeface="IBM Plex Sans"/>
                <a:ea typeface="IBM Plex Sans"/>
                <a:cs typeface="IBM Plex Sans"/>
                <a:sym typeface="IBM Plex Sans"/>
              </a:rPr>
              <a:t>GraphQL · 8001</a:t>
            </a:r>
            <a:endParaRPr sz="2000" b="0" i="0" u="none" strike="noStrike" cap="none">
              <a:solidFill>
                <a:schemeClr val="dk1"/>
              </a:solidFill>
              <a:latin typeface="Calibri"/>
              <a:ea typeface="Calibri"/>
              <a:cs typeface="Calibri"/>
              <a:sym typeface="Calibri"/>
            </a:endParaRPr>
          </a:p>
        </p:txBody>
      </p:sp>
      <p:sp>
        <p:nvSpPr>
          <p:cNvPr id="105" name="Google Shape;105;p8"/>
          <p:cNvSpPr/>
          <p:nvPr/>
        </p:nvSpPr>
        <p:spPr>
          <a:xfrm>
            <a:off x="6482080" y="2811782"/>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Una consulta trae predicción, metadata del modelo o datos del lake: sin multiplicar endpoints.</a:t>
            </a:r>
            <a:endParaRPr sz="1400" b="0" i="0" u="none" strike="noStrike" cap="none">
              <a:solidFill>
                <a:schemeClr val="dk1"/>
              </a:solidFill>
              <a:latin typeface="Calibri"/>
              <a:ea typeface="Calibri"/>
              <a:cs typeface="Calibri"/>
              <a:sym typeface="Calibri"/>
            </a:endParaRPr>
          </a:p>
        </p:txBody>
      </p:sp>
      <p:sp>
        <p:nvSpPr>
          <p:cNvPr id="106" name="Google Shape;106;p8"/>
          <p:cNvSpPr/>
          <p:nvPr/>
        </p:nvSpPr>
        <p:spPr>
          <a:xfrm>
            <a:off x="6482080" y="3436621"/>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prediccionesStreaming lee el lake (clase 6); auditoria, solo admin (clase 7).</a:t>
            </a:r>
            <a:endParaRPr sz="1400" b="0" i="0" u="none" strike="noStrike" cap="none">
              <a:solidFill>
                <a:schemeClr val="dk1"/>
              </a:solidFill>
              <a:latin typeface="Calibri"/>
              <a:ea typeface="Calibri"/>
              <a:cs typeface="Calibri"/>
              <a:sym typeface="Calibri"/>
            </a:endParaRPr>
          </a:p>
        </p:txBody>
      </p:sp>
      <p:sp>
        <p:nvSpPr>
          <p:cNvPr id="107" name="Google Shape;107;p8"/>
          <p:cNvSpPr/>
          <p:nvPr/>
        </p:nvSpPr>
        <p:spPr>
          <a:xfrm>
            <a:off x="6482080" y="4061461"/>
            <a:ext cx="4638040" cy="416560"/>
          </a:xfrm>
          <a:prstGeom prst="roundRect">
            <a:avLst>
              <a:gd name="adj" fmla="val 12195"/>
            </a:avLst>
          </a:prstGeom>
          <a:solidFill>
            <a:srgbClr val="F0EDE6"/>
          </a:solidFill>
          <a:ln>
            <a:noFill/>
          </a:ln>
        </p:spPr>
        <p:txBody>
          <a:bodyPr spcFirstLastPara="1" wrap="square" lIns="112100" tIns="86700" rIns="0" bIns="61300" anchor="t" anchorCtr="0">
            <a:noAutofit/>
          </a:bodyPr>
          <a:lstStyle/>
          <a:p>
            <a:pPr marL="0" marR="0" lvl="0" indent="0" algn="l" rtl="0">
              <a:lnSpc>
                <a:spcPct val="140000"/>
              </a:lnSpc>
              <a:spcBef>
                <a:spcPts val="0"/>
              </a:spcBef>
              <a:spcAft>
                <a:spcPts val="0"/>
              </a:spcAft>
              <a:buClr>
                <a:srgbClr val="5E5A54"/>
              </a:buClr>
              <a:buSzPts val="1200"/>
              <a:buFont typeface="JetBrains Mono"/>
              <a:buNone/>
            </a:pPr>
            <a:r>
              <a:rPr lang="en-US" sz="1200" b="0" i="0" u="none" strike="noStrike" cap="none">
                <a:solidFill>
                  <a:srgbClr val="5E5A54"/>
                </a:solidFill>
                <a:latin typeface="JetBrains Mono"/>
                <a:ea typeface="JetBrains Mono"/>
                <a:cs typeface="JetBrains Mono"/>
                <a:sym typeface="JetBrains Mono"/>
              </a:rPr>
              <a:t>{ modelInfo { modelVersion } }</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12"/>
        <p:cNvGrpSpPr/>
        <p:nvPr/>
      </p:nvGrpSpPr>
      <p:grpSpPr>
        <a:xfrm>
          <a:off x="0" y="0"/>
          <a:ext cx="0" cy="0"/>
          <a:chOff x="0" y="0"/>
          <a:chExt cx="0" cy="0"/>
        </a:xfrm>
      </p:grpSpPr>
      <p:sp>
        <p:nvSpPr>
          <p:cNvPr id="113" name="Google Shape;113;p9"/>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CLASES 3 Y 4</a:t>
            </a:r>
            <a:endParaRPr sz="1300" b="0" i="0" u="none" strike="noStrike" cap="none">
              <a:solidFill>
                <a:schemeClr val="dk1"/>
              </a:solidFill>
              <a:latin typeface="Calibri"/>
              <a:ea typeface="Calibri"/>
              <a:cs typeface="Calibri"/>
              <a:sym typeface="Calibri"/>
            </a:endParaRPr>
          </a:p>
        </p:txBody>
      </p:sp>
      <p:sp>
        <p:nvSpPr>
          <p:cNvPr id="114" name="Google Shape;114;p9"/>
          <p:cNvSpPr/>
          <p:nvPr/>
        </p:nvSpPr>
        <p:spPr>
          <a:xfrm>
            <a:off x="812800" y="1348739"/>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a:solidFill>
                  <a:srgbClr val="22201D"/>
                </a:solidFill>
                <a:latin typeface="IBM Plex Sans"/>
                <a:ea typeface="IBM Plex Sans"/>
                <a:cs typeface="IBM Plex Sans"/>
                <a:sym typeface="IBM Plex Sans"/>
              </a:rPr>
              <a:t>gRPC para volumen, streaming para flujos</a:t>
            </a:r>
            <a:endParaRPr sz="3200" b="0" i="0" u="none" strike="noStrike" cap="none">
              <a:solidFill>
                <a:schemeClr val="dk1"/>
              </a:solidFill>
              <a:latin typeface="Calibri"/>
              <a:ea typeface="Calibri"/>
              <a:cs typeface="Calibri"/>
              <a:sym typeface="Calibri"/>
            </a:endParaRPr>
          </a:p>
        </p:txBody>
      </p:sp>
      <p:sp>
        <p:nvSpPr>
          <p:cNvPr id="115" name="Google Shape;115;p9"/>
          <p:cNvSpPr/>
          <p:nvPr/>
        </p:nvSpPr>
        <p:spPr>
          <a:xfrm>
            <a:off x="815975" y="2124075"/>
            <a:ext cx="5149850" cy="2691130"/>
          </a:xfrm>
          <a:prstGeom prst="roundRect">
            <a:avLst>
              <a:gd name="adj" fmla="val 2714"/>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9"/>
          <p:cNvSpPr/>
          <p:nvPr/>
        </p:nvSpPr>
        <p:spPr>
          <a:xfrm>
            <a:off x="1071880" y="2379982"/>
            <a:ext cx="4777181" cy="330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8E6A1F"/>
              </a:buClr>
              <a:buSzPts val="2000"/>
              <a:buFont typeface="IBM Plex Sans"/>
              <a:buNone/>
            </a:pPr>
            <a:r>
              <a:rPr lang="en-US" sz="2000" b="1" i="0" u="none" strike="noStrike" cap="none">
                <a:solidFill>
                  <a:srgbClr val="8E6A1F"/>
                </a:solidFill>
                <a:latin typeface="IBM Plex Sans"/>
                <a:ea typeface="IBM Plex Sans"/>
                <a:cs typeface="IBM Plex Sans"/>
                <a:sym typeface="IBM Plex Sans"/>
              </a:rPr>
              <a:t>gRPC · 50051</a:t>
            </a:r>
            <a:endParaRPr sz="2000" b="0" i="0" u="none" strike="noStrike" cap="none">
              <a:solidFill>
                <a:schemeClr val="dk1"/>
              </a:solidFill>
              <a:latin typeface="Calibri"/>
              <a:ea typeface="Calibri"/>
              <a:cs typeface="Calibri"/>
              <a:sym typeface="Calibri"/>
            </a:endParaRPr>
          </a:p>
        </p:txBody>
      </p:sp>
      <p:sp>
        <p:nvSpPr>
          <p:cNvPr id="117" name="Google Shape;117;p9"/>
          <p:cNvSpPr/>
          <p:nvPr/>
        </p:nvSpPr>
        <p:spPr>
          <a:xfrm>
            <a:off x="1071880" y="2811782"/>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Contrato .proto con los mismos 12 campos del auto que REST.</a:t>
            </a:r>
            <a:endParaRPr sz="1400" b="0" i="0" u="none" strike="noStrike" cap="none">
              <a:solidFill>
                <a:schemeClr val="dk1"/>
              </a:solidFill>
              <a:latin typeface="Calibri"/>
              <a:ea typeface="Calibri"/>
              <a:cs typeface="Calibri"/>
              <a:sym typeface="Calibri"/>
            </a:endParaRPr>
          </a:p>
        </p:txBody>
      </p:sp>
      <p:sp>
        <p:nvSpPr>
          <p:cNvPr id="118" name="Google Shape;118;p9"/>
          <p:cNvSpPr/>
          <p:nvPr/>
        </p:nvSpPr>
        <p:spPr>
          <a:xfrm>
            <a:off x="1071880" y="3436621"/>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Predict (1 → 1) y PredictStream (un lote → una respuesta por auto).</a:t>
            </a:r>
            <a:endParaRPr sz="1400" b="0" i="0" u="none" strike="noStrike" cap="none">
              <a:solidFill>
                <a:schemeClr val="dk1"/>
              </a:solidFill>
              <a:latin typeface="Calibri"/>
              <a:ea typeface="Calibri"/>
              <a:cs typeface="Calibri"/>
              <a:sym typeface="Calibri"/>
            </a:endParaRPr>
          </a:p>
        </p:txBody>
      </p:sp>
      <p:sp>
        <p:nvSpPr>
          <p:cNvPr id="119" name="Google Shape;119;p9"/>
          <p:cNvSpPr/>
          <p:nvPr/>
        </p:nvSpPr>
        <p:spPr>
          <a:xfrm>
            <a:off x="1071880" y="4061461"/>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grpcio fijado en 1.62: la última versión compatible con el protobuf que exige MLflow 2.13.</a:t>
            </a:r>
            <a:endParaRPr sz="1400" b="0" i="0" u="none" strike="noStrike" cap="none">
              <a:solidFill>
                <a:schemeClr val="dk1"/>
              </a:solidFill>
              <a:latin typeface="Calibri"/>
              <a:ea typeface="Calibri"/>
              <a:cs typeface="Calibri"/>
              <a:sym typeface="Calibri"/>
            </a:endParaRPr>
          </a:p>
        </p:txBody>
      </p:sp>
      <p:sp>
        <p:nvSpPr>
          <p:cNvPr id="120" name="Google Shape;120;p9"/>
          <p:cNvSpPr/>
          <p:nvPr/>
        </p:nvSpPr>
        <p:spPr>
          <a:xfrm>
            <a:off x="6226175" y="2124075"/>
            <a:ext cx="5149850" cy="2691130"/>
          </a:xfrm>
          <a:prstGeom prst="roundRect">
            <a:avLst>
              <a:gd name="adj" fmla="val 2714"/>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a:off x="6482080" y="2379982"/>
            <a:ext cx="4777181" cy="330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A4462B"/>
              </a:buClr>
              <a:buSzPts val="2000"/>
              <a:buFont typeface="IBM Plex Sans"/>
              <a:buNone/>
            </a:pPr>
            <a:r>
              <a:rPr lang="en-US" sz="2000" b="1" i="0" u="none" strike="noStrike" cap="none">
                <a:solidFill>
                  <a:srgbClr val="A4462B"/>
                </a:solidFill>
                <a:latin typeface="IBM Plex Sans"/>
                <a:ea typeface="IBM Plex Sans"/>
                <a:cs typeface="IBM Plex Sans"/>
                <a:sym typeface="IBM Plex Sans"/>
              </a:rPr>
              <a:t>Streaming · Redpanda</a:t>
            </a:r>
            <a:endParaRPr sz="2000" b="0" i="0" u="none" strike="noStrike" cap="none">
              <a:solidFill>
                <a:schemeClr val="dk1"/>
              </a:solidFill>
              <a:latin typeface="Calibri"/>
              <a:ea typeface="Calibri"/>
              <a:cs typeface="Calibri"/>
              <a:sym typeface="Calibri"/>
            </a:endParaRPr>
          </a:p>
        </p:txBody>
      </p:sp>
      <p:sp>
        <p:nvSpPr>
          <p:cNvPr id="122" name="Google Shape;122;p9"/>
          <p:cNvSpPr/>
          <p:nvPr/>
        </p:nvSpPr>
        <p:spPr>
          <a:xfrm>
            <a:off x="6482080" y="2811782"/>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El consumidor puntúa cada evento y mide por ventana de 1 s: throughput, p95 y media de km.</a:t>
            </a:r>
            <a:endParaRPr sz="1400" b="0" i="0" u="none" strike="noStrike" cap="none">
              <a:solidFill>
                <a:schemeClr val="dk1"/>
              </a:solidFill>
              <a:latin typeface="Calibri"/>
              <a:ea typeface="Calibri"/>
              <a:cs typeface="Calibri"/>
              <a:sym typeface="Calibri"/>
            </a:endParaRPr>
          </a:p>
        </p:txBody>
      </p:sp>
      <p:sp>
        <p:nvSpPr>
          <p:cNvPr id="123" name="Google Shape;123;p9"/>
          <p:cNvSpPr/>
          <p:nvPr/>
        </p:nvSpPr>
        <p:spPr>
          <a:xfrm>
            <a:off x="6482080" y="3436621"/>
            <a:ext cx="4777181"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Si la media de km supera 150.000: alerta de drift.</a:t>
            </a:r>
            <a:endParaRPr sz="1400" b="0" i="0" u="none" strike="noStrike" cap="none">
              <a:solidFill>
                <a:schemeClr val="dk1"/>
              </a:solidFill>
              <a:latin typeface="Calibri"/>
              <a:ea typeface="Calibri"/>
              <a:cs typeface="Calibri"/>
              <a:sym typeface="Calibri"/>
            </a:endParaRPr>
          </a:p>
        </p:txBody>
      </p:sp>
      <p:sp>
        <p:nvSpPr>
          <p:cNvPr id="124" name="Google Shape;124;p9"/>
          <p:cNvSpPr/>
          <p:nvPr/>
        </p:nvSpPr>
        <p:spPr>
          <a:xfrm>
            <a:off x="6482080" y="3812539"/>
            <a:ext cx="4777181"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Guarda por lotes en el lake y recién ahí confirma el offset: si se cae, no pierde eventos.</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29"/>
        <p:cNvGrpSpPr/>
        <p:nvPr/>
      </p:nvGrpSpPr>
      <p:grpSpPr>
        <a:xfrm>
          <a:off x="0" y="0"/>
          <a:ext cx="0" cy="0"/>
          <a:chOff x="0" y="0"/>
          <a:chExt cx="0" cy="0"/>
        </a:xfrm>
      </p:grpSpPr>
      <p:sp>
        <p:nvSpPr>
          <p:cNvPr id="130" name="Google Shape;130;p10"/>
          <p:cNvSpPr/>
          <p:nvPr/>
        </p:nvSpPr>
        <p:spPr>
          <a:xfrm>
            <a:off x="812800" y="812800"/>
            <a:ext cx="5206238"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CLASE 5 · FEDERADO</a:t>
            </a:r>
            <a:endParaRPr sz="1300" b="0" i="0" u="none" strike="noStrike" cap="none">
              <a:solidFill>
                <a:schemeClr val="dk1"/>
              </a:solidFill>
              <a:latin typeface="Calibri"/>
              <a:ea typeface="Calibri"/>
              <a:cs typeface="Calibri"/>
              <a:sym typeface="Calibri"/>
            </a:endParaRPr>
          </a:p>
        </p:txBody>
      </p:sp>
      <p:sp>
        <p:nvSpPr>
          <p:cNvPr id="131" name="Google Shape;131;p10"/>
          <p:cNvSpPr/>
          <p:nvPr/>
        </p:nvSpPr>
        <p:spPr>
          <a:xfrm>
            <a:off x="812800" y="1272539"/>
            <a:ext cx="5206238" cy="901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000"/>
              <a:buFont typeface="IBM Plex Sans"/>
              <a:buNone/>
            </a:pPr>
            <a:r>
              <a:rPr lang="en-US" sz="3000" b="1" i="0" u="none" strike="noStrike" cap="none">
                <a:solidFill>
                  <a:srgbClr val="22201D"/>
                </a:solidFill>
                <a:latin typeface="IBM Plex Sans"/>
                <a:ea typeface="IBM Plex Sans"/>
                <a:cs typeface="IBM Plex Sans"/>
                <a:sym typeface="IBM Plex Sans"/>
              </a:rPr>
              <a:t>Entrenar sin juntar los datos</a:t>
            </a:r>
            <a:endParaRPr sz="3000" b="0" i="0" u="none" strike="noStrike" cap="none">
              <a:solidFill>
                <a:schemeClr val="dk1"/>
              </a:solidFill>
              <a:latin typeface="Calibri"/>
              <a:ea typeface="Calibri"/>
              <a:cs typeface="Calibri"/>
              <a:sym typeface="Calibri"/>
            </a:endParaRPr>
          </a:p>
        </p:txBody>
      </p:sp>
      <p:sp>
        <p:nvSpPr>
          <p:cNvPr id="132" name="Google Shape;132;p10"/>
          <p:cNvSpPr/>
          <p:nvPr/>
        </p:nvSpPr>
        <p:spPr>
          <a:xfrm>
            <a:off x="812800" y="2377439"/>
            <a:ext cx="5206238" cy="825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0" i="0" u="none" strike="noStrike" cap="none">
                <a:solidFill>
                  <a:srgbClr val="22201D"/>
                </a:solidFill>
                <a:latin typeface="IBM Plex Sans"/>
                <a:ea typeface="IBM Plex Sans"/>
                <a:cs typeface="IBM Plex Sans"/>
                <a:sym typeface="IBM Plex Sans"/>
              </a:rPr>
              <a:t>Tres concesionarias, cada una en su contenedor, entrenan con sus autos y solo mandan </a:t>
            </a:r>
            <a:r>
              <a:rPr lang="en-US" sz="1500" b="1" i="0" u="none" strike="noStrike" cap="none">
                <a:solidFill>
                  <a:srgbClr val="22201D"/>
                </a:solidFill>
                <a:latin typeface="IBM Plex Sans"/>
                <a:ea typeface="IBM Plex Sans"/>
                <a:cs typeface="IBM Plex Sans"/>
                <a:sym typeface="IBM Plex Sans"/>
              </a:rPr>
              <a:t>pesos</a:t>
            </a:r>
            <a:r>
              <a:rPr lang="en-US" sz="1500" b="0" i="0" u="none" strike="noStrike" cap="none">
                <a:solidFill>
                  <a:srgbClr val="22201D"/>
                </a:solidFill>
                <a:latin typeface="IBM Plex Sans"/>
                <a:ea typeface="IBM Plex Sans"/>
                <a:cs typeface="IBM Plex Sans"/>
                <a:sym typeface="IBM Plex Sans"/>
              </a:rPr>
              <a:t>. Un servidor Flower los promedia con FedAvg durante 20 rondas.</a:t>
            </a:r>
            <a:endParaRPr sz="1500" b="0" i="0" u="none" strike="noStrike" cap="none">
              <a:solidFill>
                <a:schemeClr val="dk1"/>
              </a:solidFill>
              <a:latin typeface="Calibri"/>
              <a:ea typeface="Calibri"/>
              <a:cs typeface="Calibri"/>
              <a:sym typeface="Calibri"/>
            </a:endParaRPr>
          </a:p>
        </p:txBody>
      </p:sp>
      <p:sp>
        <p:nvSpPr>
          <p:cNvPr id="133" name="Google Shape;133;p10"/>
          <p:cNvSpPr/>
          <p:nvPr/>
        </p:nvSpPr>
        <p:spPr>
          <a:xfrm>
            <a:off x="812800" y="3406139"/>
            <a:ext cx="5206238"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0" i="0" u="none" strike="noStrike" cap="none">
                <a:solidFill>
                  <a:srgbClr val="22201D"/>
                </a:solidFill>
                <a:latin typeface="IBM Plex Sans"/>
                <a:ea typeface="IBM Plex Sans"/>
                <a:cs typeface="IBM Plex Sans"/>
                <a:sym typeface="IBM Plex Sans"/>
              </a:rPr>
              <a:t>Hasta la media, el desvío y las marcas principales se calculan con </a:t>
            </a:r>
            <a:r>
              <a:rPr lang="en-US" sz="1500" b="1" i="0" u="none" strike="noStrike" cap="none">
                <a:solidFill>
                  <a:srgbClr val="22201D"/>
                </a:solidFill>
                <a:latin typeface="IBM Plex Sans"/>
                <a:ea typeface="IBM Plex Sans"/>
                <a:cs typeface="IBM Plex Sans"/>
                <a:sym typeface="IBM Plex Sans"/>
              </a:rPr>
              <a:t>conteos y sumas</a:t>
            </a:r>
            <a:r>
              <a:rPr lang="en-US" sz="1500" b="0" i="0" u="none" strike="noStrike" cap="none">
                <a:solidFill>
                  <a:srgbClr val="22201D"/>
                </a:solidFill>
                <a:latin typeface="IBM Plex Sans"/>
                <a:ea typeface="IBM Plex Sans"/>
                <a:cs typeface="IBM Plex Sans"/>
                <a:sym typeface="IBM Plex Sans"/>
              </a:rPr>
              <a:t>, nunca con filas.</a:t>
            </a:r>
            <a:endParaRPr sz="1500" b="0" i="0" u="none" strike="noStrike" cap="none">
              <a:solidFill>
                <a:schemeClr val="dk1"/>
              </a:solidFill>
              <a:latin typeface="Calibri"/>
              <a:ea typeface="Calibri"/>
              <a:cs typeface="Calibri"/>
              <a:sym typeface="Calibri"/>
            </a:endParaRPr>
          </a:p>
        </p:txBody>
      </p:sp>
      <p:sp>
        <p:nvSpPr>
          <p:cNvPr id="134" name="Google Shape;134;p10"/>
          <p:cNvSpPr/>
          <p:nvPr/>
        </p:nvSpPr>
        <p:spPr>
          <a:xfrm>
            <a:off x="812800" y="4168142"/>
            <a:ext cx="5206238"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0" i="0" u="none" strike="noStrike" cap="none">
                <a:solidFill>
                  <a:srgbClr val="22201D"/>
                </a:solidFill>
                <a:latin typeface="IBM Plex Sans"/>
                <a:ea typeface="IBM Plex Sans"/>
                <a:cs typeface="IBM Plex Sans"/>
                <a:sym typeface="IBM Plex Sans"/>
              </a:rPr>
              <a:t>El resultado se registra aparte, como </a:t>
            </a:r>
            <a:r>
              <a:rPr lang="en-US" sz="1500" b="1" i="0" u="none" strike="noStrike" cap="none">
                <a:solidFill>
                  <a:srgbClr val="22201D"/>
                </a:solidFill>
                <a:latin typeface="IBM Plex Sans"/>
                <a:ea typeface="IBM Plex Sans"/>
                <a:cs typeface="IBM Plex Sans"/>
                <a:sym typeface="IBM Plex Sans"/>
              </a:rPr>
              <a:t>linreg_federado</a:t>
            </a:r>
            <a:r>
              <a:rPr lang="en-US" sz="1500" b="0" i="0" u="none" strike="noStrike" cap="none">
                <a:solidFill>
                  <a:srgbClr val="22201D"/>
                </a:solidFill>
                <a:latin typeface="IBM Plex Sans"/>
                <a:ea typeface="IBM Plex Sans"/>
                <a:cs typeface="IBM Plex Sans"/>
                <a:sym typeface="IBM Plex Sans"/>
              </a:rPr>
              <a:t>: no reemplaza a xgb_best.</a:t>
            </a:r>
            <a:endParaRPr sz="1500" b="0" i="0" u="none" strike="noStrike" cap="none">
              <a:solidFill>
                <a:schemeClr val="dk1"/>
              </a:solidFill>
              <a:latin typeface="Calibri"/>
              <a:ea typeface="Calibri"/>
              <a:cs typeface="Calibri"/>
              <a:sym typeface="Calibri"/>
            </a:endParaRPr>
          </a:p>
        </p:txBody>
      </p:sp>
      <p:sp>
        <p:nvSpPr>
          <p:cNvPr id="135" name="Google Shape;135;p10"/>
          <p:cNvSpPr/>
          <p:nvPr/>
        </p:nvSpPr>
        <p:spPr>
          <a:xfrm>
            <a:off x="6324600" y="965200"/>
            <a:ext cx="5206238"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700"/>
              <a:buFont typeface="IBM Plex Sans"/>
              <a:buNone/>
            </a:pPr>
            <a:r>
              <a:rPr lang="en-US" sz="1700" b="1" i="0" u="none" strike="noStrike" cap="none">
                <a:solidFill>
                  <a:srgbClr val="22201D"/>
                </a:solidFill>
                <a:latin typeface="IBM Plex Sans"/>
                <a:ea typeface="IBM Plex Sans"/>
                <a:cs typeface="IBM Plex Sans"/>
                <a:sym typeface="IBM Plex Sans"/>
              </a:rPr>
              <a:t>RMSE en log(precio) · menor es mejor</a:t>
            </a:r>
            <a:endParaRPr sz="1700" b="0" i="0" u="none" strike="noStrike" cap="none">
              <a:solidFill>
                <a:schemeClr val="dk1"/>
              </a:solidFill>
              <a:latin typeface="Calibri"/>
              <a:ea typeface="Calibri"/>
              <a:cs typeface="Calibri"/>
              <a:sym typeface="Calibri"/>
            </a:endParaRPr>
          </a:p>
        </p:txBody>
      </p:sp>
      <p:graphicFrame>
        <p:nvGraphicFramePr>
          <p:cNvPr id="136" name="Google Shape;136;p10"/>
          <p:cNvGraphicFramePr/>
          <p:nvPr/>
        </p:nvGraphicFramePr>
        <p:xfrm>
          <a:off x="6334760" y="1412242"/>
          <a:ext cx="5044425" cy="2108835"/>
        </p:xfrm>
        <a:graphic>
          <a:graphicData uri="http://schemas.openxmlformats.org/drawingml/2006/table">
            <a:tbl>
              <a:tblPr>
                <a:noFill/>
                <a:tableStyleId>{45E3D7B9-5B47-45D5-BAFA-1578B30BF9EB}</a:tableStyleId>
              </a:tblPr>
              <a:tblGrid>
                <a:gridCol w="3127550">
                  <a:extLst>
                    <a:ext uri="{9D8B030D-6E8A-4147-A177-3AD203B41FA5}">
                      <a16:colId xmlns:a16="http://schemas.microsoft.com/office/drawing/2014/main" val="20000"/>
                    </a:ext>
                  </a:extLst>
                </a:gridCol>
                <a:gridCol w="1916875">
                  <a:extLst>
                    <a:ext uri="{9D8B030D-6E8A-4147-A177-3AD203B41FA5}">
                      <a16:colId xmlns:a16="http://schemas.microsoft.com/office/drawing/2014/main" val="20001"/>
                    </a:ext>
                  </a:extLst>
                </a:gridCol>
              </a:tblGrid>
              <a:tr h="410200">
                <a:tc>
                  <a:txBody>
                    <a:bodyPr/>
                    <a:lstStyle/>
                    <a:p>
                      <a:pPr marL="0" marR="0" lvl="0" indent="0" algn="l" rtl="0">
                        <a:lnSpc>
                          <a:spcPct val="140000"/>
                        </a:lnSpc>
                        <a:spcBef>
                          <a:spcPts val="0"/>
                        </a:spcBef>
                        <a:spcAft>
                          <a:spcPts val="0"/>
                        </a:spcAft>
                        <a:buClr>
                          <a:srgbClr val="22201D"/>
                        </a:buClr>
                        <a:buSzPts val="1500"/>
                        <a:buFont typeface="IBM Plex Sans"/>
                        <a:buNone/>
                      </a:pPr>
                      <a:r>
                        <a:rPr lang="en-US" sz="1500" b="1" u="none" strike="noStrike" cap="none">
                          <a:solidFill>
                            <a:srgbClr val="22201D"/>
                          </a:solidFill>
                          <a:latin typeface="IBM Plex Sans"/>
                          <a:ea typeface="IBM Plex Sans"/>
                          <a:cs typeface="IBM Plex Sans"/>
                          <a:sym typeface="IBM Plex Sans"/>
                        </a:rPr>
                        <a:t>Variante</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C4C2BE"/>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tc>
                  <a:txBody>
                    <a:bodyPr/>
                    <a:lstStyle/>
                    <a:p>
                      <a:pPr marL="0" marR="0" lvl="0" indent="0" algn="r" rtl="0">
                        <a:lnSpc>
                          <a:spcPct val="140000"/>
                        </a:lnSpc>
                        <a:spcBef>
                          <a:spcPts val="0"/>
                        </a:spcBef>
                        <a:spcAft>
                          <a:spcPts val="0"/>
                        </a:spcAft>
                        <a:buClr>
                          <a:srgbClr val="22201D"/>
                        </a:buClr>
                        <a:buSzPts val="1500"/>
                        <a:buFont typeface="IBM Plex Sans"/>
                        <a:buNone/>
                      </a:pPr>
                      <a:r>
                        <a:rPr lang="en-US" sz="1500" b="1" u="none" strike="noStrike" cap="none">
                          <a:solidFill>
                            <a:srgbClr val="22201D"/>
                          </a:solidFill>
                          <a:latin typeface="IBM Plex Sans"/>
                          <a:ea typeface="IBM Plex Sans"/>
                          <a:cs typeface="IBM Plex Sans"/>
                          <a:sym typeface="IBM Plex Sans"/>
                        </a:rPr>
                        <a:t>RMSE</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BAB7B0"/>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extLst>
                  <a:ext uri="{0D108BD9-81ED-4DB2-BD59-A6C34878D82A}">
                    <a16:rowId xmlns:a16="http://schemas.microsoft.com/office/drawing/2014/main" val="10000"/>
                  </a:ext>
                </a:extLst>
              </a:tr>
              <a:tr h="410200">
                <a:tc>
                  <a:txBody>
                    <a:bodyPr/>
                    <a:lstStyle/>
                    <a:p>
                      <a:pPr marL="0" marR="0" lvl="0" indent="0" algn="l" rtl="0">
                        <a:lnSpc>
                          <a:spcPct val="140000"/>
                        </a:lnSpc>
                        <a:spcBef>
                          <a:spcPts val="0"/>
                        </a:spcBef>
                        <a:spcAft>
                          <a:spcPts val="0"/>
                        </a:spcAft>
                        <a:buClr>
                          <a:srgbClr val="22201D"/>
                        </a:buClr>
                        <a:buSzPts val="1500"/>
                        <a:buFont typeface="IBM Plex Sans"/>
                        <a:buNone/>
                      </a:pPr>
                      <a:r>
                        <a:rPr lang="en-US" sz="1500" u="none" strike="noStrike" cap="none">
                          <a:solidFill>
                            <a:srgbClr val="22201D"/>
                          </a:solidFill>
                          <a:latin typeface="IBM Plex Sans"/>
                          <a:ea typeface="IBM Plex Sans"/>
                          <a:cs typeface="IBM Plex Sans"/>
                          <a:sym typeface="IBM Plex Sans"/>
                        </a:rPr>
                        <a:t>Centralizado (base)</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22201D"/>
                        </a:buClr>
                        <a:buSzPts val="1500"/>
                        <a:buFont typeface="IBM Plex Sans"/>
                        <a:buNone/>
                      </a:pPr>
                      <a:r>
                        <a:rPr lang="en-US" sz="1500" u="none" strike="noStrike" cap="none">
                          <a:solidFill>
                            <a:srgbClr val="22201D"/>
                          </a:solidFill>
                          <a:latin typeface="IBM Plex Sans"/>
                          <a:ea typeface="IBM Plex Sans"/>
                          <a:cs typeface="IBM Plex Sans"/>
                          <a:sym typeface="IBM Plex Sans"/>
                        </a:rPr>
                        <a:t>0,2664</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1"/>
                  </a:ext>
                </a:extLst>
              </a:tr>
              <a:tr h="410200">
                <a:tc>
                  <a:txBody>
                    <a:bodyPr/>
                    <a:lstStyle/>
                    <a:p>
                      <a:pPr marL="0" marR="0" lvl="0" indent="0" algn="l" rtl="0">
                        <a:lnSpc>
                          <a:spcPct val="140000"/>
                        </a:lnSpc>
                        <a:spcBef>
                          <a:spcPts val="0"/>
                        </a:spcBef>
                        <a:spcAft>
                          <a:spcPts val="0"/>
                        </a:spcAft>
                        <a:buClr>
                          <a:srgbClr val="22201D"/>
                        </a:buClr>
                        <a:buSzPts val="1500"/>
                        <a:buFont typeface="IBM Plex Sans"/>
                        <a:buNone/>
                      </a:pPr>
                      <a:r>
                        <a:rPr lang="en-US" sz="1500" u="none" strike="noStrike" cap="none">
                          <a:solidFill>
                            <a:srgbClr val="22201D"/>
                          </a:solidFill>
                          <a:latin typeface="IBM Plex Sans"/>
                          <a:ea typeface="IBM Plex Sans"/>
                          <a:cs typeface="IBM Plex Sans"/>
                          <a:sym typeface="IBM Plex Sans"/>
                        </a:rPr>
                        <a:t>Federado IID</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C4C2BE"/>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r" rtl="0">
                        <a:lnSpc>
                          <a:spcPct val="140000"/>
                        </a:lnSpc>
                        <a:spcBef>
                          <a:spcPts val="0"/>
                        </a:spcBef>
                        <a:spcAft>
                          <a:spcPts val="0"/>
                        </a:spcAft>
                        <a:buClr>
                          <a:srgbClr val="22201D"/>
                        </a:buClr>
                        <a:buSzPts val="1500"/>
                        <a:buFont typeface="IBM Plex Sans"/>
                        <a:buNone/>
                      </a:pPr>
                      <a:r>
                        <a:rPr lang="en-US" sz="1500" u="none" strike="noStrike" cap="none">
                          <a:solidFill>
                            <a:srgbClr val="22201D"/>
                          </a:solidFill>
                          <a:latin typeface="IBM Plex Sans"/>
                          <a:ea typeface="IBM Plex Sans"/>
                          <a:cs typeface="IBM Plex Sans"/>
                          <a:sym typeface="IBM Plex Sans"/>
                        </a:rPr>
                        <a:t>0,2664</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extLst>
                  <a:ext uri="{0D108BD9-81ED-4DB2-BD59-A6C34878D82A}">
                    <a16:rowId xmlns:a16="http://schemas.microsoft.com/office/drawing/2014/main" val="10002"/>
                  </a:ext>
                </a:extLst>
              </a:tr>
              <a:tr h="410200">
                <a:tc>
                  <a:txBody>
                    <a:bodyPr/>
                    <a:lstStyle/>
                    <a:p>
                      <a:pPr marL="0" marR="0" lvl="0" indent="0" algn="l" rtl="0">
                        <a:lnSpc>
                          <a:spcPct val="140000"/>
                        </a:lnSpc>
                        <a:spcBef>
                          <a:spcPts val="0"/>
                        </a:spcBef>
                        <a:spcAft>
                          <a:spcPts val="0"/>
                        </a:spcAft>
                        <a:buClr>
                          <a:srgbClr val="22201D"/>
                        </a:buClr>
                        <a:buSzPts val="1500"/>
                        <a:buFont typeface="IBM Plex Sans"/>
                        <a:buNone/>
                      </a:pPr>
                      <a:r>
                        <a:rPr lang="en-US" sz="1500" u="none" strike="noStrike" cap="none">
                          <a:solidFill>
                            <a:srgbClr val="22201D"/>
                          </a:solidFill>
                          <a:latin typeface="IBM Plex Sans"/>
                          <a:ea typeface="IBM Plex Sans"/>
                          <a:cs typeface="IBM Plex Sans"/>
                          <a:sym typeface="IBM Plex Sans"/>
                        </a:rPr>
                        <a:t>Federado non-IID</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r" rtl="0">
                        <a:lnSpc>
                          <a:spcPct val="140000"/>
                        </a:lnSpc>
                        <a:spcBef>
                          <a:spcPts val="0"/>
                        </a:spcBef>
                        <a:spcAft>
                          <a:spcPts val="0"/>
                        </a:spcAft>
                        <a:buClr>
                          <a:srgbClr val="22201D"/>
                        </a:buClr>
                        <a:buSzPts val="1500"/>
                        <a:buFont typeface="IBM Plex Sans"/>
                        <a:buNone/>
                      </a:pPr>
                      <a:r>
                        <a:rPr lang="en-US" sz="1500" u="none" strike="noStrike" cap="none">
                          <a:solidFill>
                            <a:srgbClr val="22201D"/>
                          </a:solidFill>
                          <a:latin typeface="IBM Plex Sans"/>
                          <a:ea typeface="IBM Plex Sans"/>
                          <a:cs typeface="IBM Plex Sans"/>
                          <a:sym typeface="IBM Plex Sans"/>
                        </a:rPr>
                        <a:t>0,2700</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3"/>
                  </a:ext>
                </a:extLst>
              </a:tr>
              <a:tr h="410200">
                <a:tc>
                  <a:txBody>
                    <a:bodyPr/>
                    <a:lstStyle/>
                    <a:p>
                      <a:pPr marL="0" marR="0" lvl="0" indent="0" algn="l" rtl="0">
                        <a:lnSpc>
                          <a:spcPct val="140000"/>
                        </a:lnSpc>
                        <a:spcBef>
                          <a:spcPts val="0"/>
                        </a:spcBef>
                        <a:spcAft>
                          <a:spcPts val="0"/>
                        </a:spcAft>
                        <a:buClr>
                          <a:srgbClr val="22201D"/>
                        </a:buClr>
                        <a:buSzPts val="1500"/>
                        <a:buFont typeface="IBM Plex Sans"/>
                        <a:buNone/>
                      </a:pPr>
                      <a:r>
                        <a:rPr lang="en-US" sz="1500" u="none" strike="noStrike" cap="none">
                          <a:solidFill>
                            <a:srgbClr val="22201D"/>
                          </a:solidFill>
                          <a:latin typeface="IBM Plex Sans"/>
                          <a:ea typeface="IBM Plex Sans"/>
                          <a:cs typeface="IBM Plex Sans"/>
                          <a:sym typeface="IBM Plex Sans"/>
                        </a:rPr>
                        <a:t>IID + ruido (SIGMA 0,05)</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C4C2BE"/>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r" rtl="0">
                        <a:lnSpc>
                          <a:spcPct val="140000"/>
                        </a:lnSpc>
                        <a:spcBef>
                          <a:spcPts val="0"/>
                        </a:spcBef>
                        <a:spcAft>
                          <a:spcPts val="0"/>
                        </a:spcAft>
                        <a:buClr>
                          <a:srgbClr val="22201D"/>
                        </a:buClr>
                        <a:buSzPts val="1500"/>
                        <a:buFont typeface="IBM Plex Sans"/>
                        <a:buNone/>
                      </a:pPr>
                      <a:r>
                        <a:rPr lang="en-US" sz="1500" u="none" strike="noStrike" cap="none">
                          <a:solidFill>
                            <a:srgbClr val="22201D"/>
                          </a:solidFill>
                          <a:latin typeface="IBM Plex Sans"/>
                          <a:ea typeface="IBM Plex Sans"/>
                          <a:cs typeface="IBM Plex Sans"/>
                          <a:sym typeface="IBM Plex Sans"/>
                        </a:rPr>
                        <a:t>0,4653</a:t>
                      </a:r>
                      <a:endParaRPr sz="1500" u="none" strike="noStrike" cap="none">
                        <a:latin typeface="IBM Plex Sans"/>
                        <a:ea typeface="IBM Plex Sans"/>
                        <a:cs typeface="IBM Plex Sans"/>
                        <a:sym typeface="IBM Plex Sans"/>
                      </a:endParaRPr>
                    </a:p>
                  </a:txBody>
                  <a:tcPr marL="66675" marR="66675" marT="66675" marB="6667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extLst>
                  <a:ext uri="{0D108BD9-81ED-4DB2-BD59-A6C34878D82A}">
                    <a16:rowId xmlns:a16="http://schemas.microsoft.com/office/drawing/2014/main" val="10004"/>
                  </a:ext>
                </a:extLst>
              </a:tr>
            </a:tbl>
          </a:graphicData>
        </a:graphic>
      </p:graphicFrame>
      <p:sp>
        <p:nvSpPr>
          <p:cNvPr id="137" name="Google Shape;137;p10"/>
          <p:cNvSpPr/>
          <p:nvPr/>
        </p:nvSpPr>
        <p:spPr>
          <a:xfrm>
            <a:off x="6324600" y="3641089"/>
            <a:ext cx="5206238"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400"/>
              <a:buFont typeface="IBM Plex Sans"/>
              <a:buNone/>
            </a:pPr>
            <a:r>
              <a:rPr lang="en-US" sz="1400" b="0" i="0" u="none" strike="noStrike" cap="none">
                <a:solidFill>
                  <a:srgbClr val="5E5A54"/>
                </a:solidFill>
                <a:latin typeface="IBM Plex Sans"/>
                <a:ea typeface="IBM Plex Sans"/>
                <a:cs typeface="IBM Plex Sans"/>
                <a:sym typeface="IBM Plex Sans"/>
              </a:rPr>
              <a:t>Con datos IID, federar no cuesta error. La privacidad diferencial sí: el error casi se duplica.</a:t>
            </a:r>
            <a:endParaRPr sz="1400" b="0" i="0" u="none" strike="noStrike" cap="none">
              <a:solidFill>
                <a:schemeClr val="dk1"/>
              </a:solidFill>
              <a:latin typeface="Calibri"/>
              <a:ea typeface="Calibri"/>
              <a:cs typeface="Calibri"/>
              <a:sym typeface="Calibri"/>
            </a:endParaRPr>
          </a:p>
        </p:txBody>
      </p:sp>
      <p:sp>
        <p:nvSpPr>
          <p:cNvPr id="138" name="Google Shape;138;p10"/>
          <p:cNvSpPr/>
          <p:nvPr/>
        </p:nvSpPr>
        <p:spPr>
          <a:xfrm>
            <a:off x="812800" y="6238242"/>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F897E"/>
              </a:buClr>
              <a:buSzPts val="1200"/>
              <a:buFont typeface="IBM Plex Sans"/>
              <a:buNone/>
            </a:pPr>
            <a:r>
              <a:rPr lang="en-US" sz="1200" b="0" i="0" u="none" strike="noStrike" cap="none">
                <a:solidFill>
                  <a:srgbClr val="8F897E"/>
                </a:solidFill>
                <a:latin typeface="IBM Plex Sans"/>
                <a:ea typeface="IBM Plex Sans"/>
                <a:cs typeface="IBM Plex Sans"/>
                <a:sym typeface="IBM Plex Sans"/>
              </a:rPr>
              <a:t>3 clientes · 20 rondas de 50 épocas · resultados registrados en MLflow (experimento federado_concesionarias)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43"/>
        <p:cNvGrpSpPr/>
        <p:nvPr/>
      </p:nvGrpSpPr>
      <p:grpSpPr>
        <a:xfrm>
          <a:off x="0" y="0"/>
          <a:ext cx="0" cy="0"/>
          <a:chOff x="0" y="0"/>
          <a:chExt cx="0" cy="0"/>
        </a:xfrm>
      </p:grpSpPr>
      <p:sp>
        <p:nvSpPr>
          <p:cNvPr id="144" name="Google Shape;144;p11"/>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CLASE 6 · DATA LAKE</a:t>
            </a:r>
            <a:endParaRPr sz="1300" b="0" i="0" u="none" strike="noStrike" cap="none">
              <a:solidFill>
                <a:schemeClr val="dk1"/>
              </a:solidFill>
              <a:latin typeface="Calibri"/>
              <a:ea typeface="Calibri"/>
              <a:cs typeface="Calibri"/>
              <a:sym typeface="Calibri"/>
            </a:endParaRPr>
          </a:p>
        </p:txBody>
      </p:sp>
      <p:sp>
        <p:nvSpPr>
          <p:cNvPr id="145" name="Google Shape;145;p11"/>
          <p:cNvSpPr/>
          <p:nvPr/>
        </p:nvSpPr>
        <p:spPr>
          <a:xfrm>
            <a:off x="812800" y="1348742"/>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a:solidFill>
                  <a:srgbClr val="22201D"/>
                </a:solidFill>
                <a:latin typeface="IBM Plex Sans"/>
                <a:ea typeface="IBM Plex Sans"/>
                <a:cs typeface="IBM Plex Sans"/>
                <a:sym typeface="IBM Plex Sans"/>
              </a:rPr>
              <a:t>Un dueño por bucket, sin un segundo registro</a:t>
            </a:r>
            <a:endParaRPr sz="3200" b="0" i="0" u="none" strike="noStrike" cap="none">
              <a:solidFill>
                <a:schemeClr val="dk1"/>
              </a:solidFill>
              <a:latin typeface="Calibri"/>
              <a:ea typeface="Calibri"/>
              <a:cs typeface="Calibri"/>
              <a:sym typeface="Calibri"/>
            </a:endParaRPr>
          </a:p>
        </p:txBody>
      </p:sp>
      <p:sp>
        <p:nvSpPr>
          <p:cNvPr id="146" name="Google Shape;146;p11"/>
          <p:cNvSpPr/>
          <p:nvPr/>
        </p:nvSpPr>
        <p:spPr>
          <a:xfrm>
            <a:off x="815975" y="2124075"/>
            <a:ext cx="6077426" cy="1944370"/>
          </a:xfrm>
          <a:prstGeom prst="roundRect">
            <a:avLst>
              <a:gd name="adj" fmla="val 3756"/>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a:off x="1071880" y="2379979"/>
            <a:ext cx="5732585" cy="299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A7488"/>
              </a:buClr>
              <a:buSzPts val="1800"/>
              <a:buFont typeface="IBM Plex Sans"/>
              <a:buNone/>
            </a:pPr>
            <a:r>
              <a:rPr lang="en-US" sz="1800" b="1" i="0" u="none" strike="noStrike" cap="none">
                <a:solidFill>
                  <a:srgbClr val="2A7488"/>
                </a:solidFill>
                <a:latin typeface="IBM Plex Sans"/>
                <a:ea typeface="IBM Plex Sans"/>
                <a:cs typeface="IBM Plex Sans"/>
                <a:sym typeface="IBM Plex Sans"/>
              </a:rPr>
              <a:t>bucket datalake · los datos</a:t>
            </a:r>
            <a:endParaRPr sz="1800" b="0" i="0" u="none" strike="noStrike" cap="none">
              <a:solidFill>
                <a:schemeClr val="dk1"/>
              </a:solidFill>
              <a:latin typeface="Calibri"/>
              <a:ea typeface="Calibri"/>
              <a:cs typeface="Calibri"/>
              <a:sym typeface="Calibri"/>
            </a:endParaRPr>
          </a:p>
        </p:txBody>
      </p:sp>
      <p:sp>
        <p:nvSpPr>
          <p:cNvPr id="148" name="Google Shape;148;p11"/>
          <p:cNvSpPr/>
          <p:nvPr/>
        </p:nvSpPr>
        <p:spPr>
          <a:xfrm>
            <a:off x="1071880" y="2755900"/>
            <a:ext cx="5732585" cy="108204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22201D"/>
              </a:buClr>
              <a:buSzPts val="1300"/>
              <a:buFont typeface="JetBrains Mono"/>
              <a:buNone/>
            </a:pPr>
            <a:r>
              <a:rPr lang="en-US" sz="1300" b="0" i="0" u="none" strike="noStrike" cap="none">
                <a:solidFill>
                  <a:srgbClr val="22201D"/>
                </a:solidFill>
                <a:latin typeface="JetBrains Mono"/>
                <a:ea typeface="JetBrains Mono"/>
                <a:cs typeface="JetBrains Mono"/>
                <a:sym typeface="JetBrains Mono"/>
              </a:rPr>
              <a:t>raw/car_dekho/ · dataset crudo</a:t>
            </a:r>
            <a:endParaRPr sz="1300" b="0" i="0" u="none" strike="noStrike" cap="none">
              <a:solidFill>
                <a:schemeClr val="dk1"/>
              </a:solidFill>
              <a:latin typeface="Calibri"/>
              <a:ea typeface="Calibri"/>
              <a:cs typeface="Calibri"/>
              <a:sym typeface="Calibri"/>
            </a:endParaRPr>
          </a:p>
          <a:p>
            <a:pPr marL="0" marR="0" lvl="0" indent="0" algn="l" rtl="0">
              <a:lnSpc>
                <a:spcPct val="160000"/>
              </a:lnSpc>
              <a:spcBef>
                <a:spcPts val="0"/>
              </a:spcBef>
              <a:spcAft>
                <a:spcPts val="0"/>
              </a:spcAft>
              <a:buClr>
                <a:srgbClr val="22201D"/>
              </a:buClr>
              <a:buSzPts val="1300"/>
              <a:buFont typeface="JetBrains Mono"/>
              <a:buNone/>
            </a:pPr>
            <a:r>
              <a:rPr lang="en-US" sz="1300" b="0" i="0" u="none" strike="noStrike" cap="none">
                <a:solidFill>
                  <a:srgbClr val="22201D"/>
                </a:solidFill>
                <a:latin typeface="JetBrains Mono"/>
                <a:ea typeface="JetBrains Mono"/>
                <a:cs typeface="JetBrains Mono"/>
                <a:sym typeface="JetBrains Mono"/>
              </a:rPr>
              <a:t>raw/streaming/fecha=…/ · eventos + precio</a:t>
            </a:r>
            <a:endParaRPr sz="1300" b="0" i="0" u="none" strike="noStrike" cap="none">
              <a:solidFill>
                <a:schemeClr val="dk1"/>
              </a:solidFill>
              <a:latin typeface="Calibri"/>
              <a:ea typeface="Calibri"/>
              <a:cs typeface="Calibri"/>
              <a:sym typeface="Calibri"/>
            </a:endParaRPr>
          </a:p>
          <a:p>
            <a:pPr marL="0" marR="0" lvl="0" indent="0" algn="l" rtl="0">
              <a:lnSpc>
                <a:spcPct val="160000"/>
              </a:lnSpc>
              <a:spcBef>
                <a:spcPts val="0"/>
              </a:spcBef>
              <a:spcAft>
                <a:spcPts val="0"/>
              </a:spcAft>
              <a:buClr>
                <a:srgbClr val="22201D"/>
              </a:buClr>
              <a:buSzPts val="1300"/>
              <a:buFont typeface="JetBrains Mono"/>
              <a:buNone/>
            </a:pPr>
            <a:r>
              <a:rPr lang="en-US" sz="1300" b="0" i="0" u="none" strike="noStrike" cap="none">
                <a:solidFill>
                  <a:srgbClr val="22201D"/>
                </a:solidFill>
                <a:latin typeface="JetBrains Mono"/>
                <a:ea typeface="JetBrains Mono"/>
                <a:cs typeface="JetBrains Mono"/>
                <a:sym typeface="JetBrains Mono"/>
              </a:rPr>
              <a:t>raw/dlq/ · raw/auditoria/ · clase 7</a:t>
            </a:r>
            <a:endParaRPr sz="1300" b="0" i="0" u="none" strike="noStrike" cap="none">
              <a:solidFill>
                <a:schemeClr val="dk1"/>
              </a:solidFill>
              <a:latin typeface="Calibri"/>
              <a:ea typeface="Calibri"/>
              <a:cs typeface="Calibri"/>
              <a:sym typeface="Calibri"/>
            </a:endParaRPr>
          </a:p>
          <a:p>
            <a:pPr marL="0" marR="0" lvl="0" indent="0" algn="l" rtl="0">
              <a:lnSpc>
                <a:spcPct val="160000"/>
              </a:lnSpc>
              <a:spcBef>
                <a:spcPts val="0"/>
              </a:spcBef>
              <a:spcAft>
                <a:spcPts val="0"/>
              </a:spcAft>
              <a:buClr>
                <a:srgbClr val="22201D"/>
              </a:buClr>
              <a:buSzPts val="1300"/>
              <a:buFont typeface="JetBrains Mono"/>
              <a:buNone/>
            </a:pPr>
            <a:r>
              <a:rPr lang="en-US" sz="1300" b="0" i="0" u="none" strike="noStrike" cap="none">
                <a:solidFill>
                  <a:srgbClr val="22201D"/>
                </a:solidFill>
                <a:latin typeface="JetBrains Mono"/>
                <a:ea typeface="JetBrains Mono"/>
                <a:cs typeface="JetBrains Mono"/>
                <a:sym typeface="JetBrains Mono"/>
              </a:rPr>
              <a:t>curated/ · features en Parquet</a:t>
            </a:r>
            <a:endParaRPr sz="1300" b="0" i="0" u="none" strike="noStrike" cap="none">
              <a:solidFill>
                <a:schemeClr val="dk1"/>
              </a:solidFill>
              <a:latin typeface="Calibri"/>
              <a:ea typeface="Calibri"/>
              <a:cs typeface="Calibri"/>
              <a:sym typeface="Calibri"/>
            </a:endParaRPr>
          </a:p>
        </p:txBody>
      </p:sp>
      <p:sp>
        <p:nvSpPr>
          <p:cNvPr id="149" name="Google Shape;149;p11"/>
          <p:cNvSpPr/>
          <p:nvPr/>
        </p:nvSpPr>
        <p:spPr>
          <a:xfrm>
            <a:off x="7153752" y="2124075"/>
            <a:ext cx="4222274" cy="1944370"/>
          </a:xfrm>
          <a:prstGeom prst="roundRect">
            <a:avLst>
              <a:gd name="adj" fmla="val 3756"/>
            </a:avLst>
          </a:prstGeom>
          <a:solidFill>
            <a:srgbClr val="FFFFFF"/>
          </a:solidFill>
          <a:ln w="9525" cap="flat" cmpd="sng">
            <a:solidFill>
              <a:srgbClr val="3E9AB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a:off x="7409656" y="2379979"/>
            <a:ext cx="3821778" cy="299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A7488"/>
              </a:buClr>
              <a:buSzPts val="1800"/>
              <a:buFont typeface="IBM Plex Sans"/>
              <a:buNone/>
            </a:pPr>
            <a:r>
              <a:rPr lang="en-US" sz="1800" b="1" i="0" u="none" strike="noStrike" cap="none">
                <a:solidFill>
                  <a:srgbClr val="2A7488"/>
                </a:solidFill>
                <a:latin typeface="IBM Plex Sans"/>
                <a:ea typeface="IBM Plex Sans"/>
                <a:cs typeface="IBM Plex Sans"/>
                <a:sym typeface="IBM Plex Sans"/>
              </a:rPr>
              <a:t>mlflow-artifacts · los modelos</a:t>
            </a:r>
            <a:endParaRPr sz="1800" b="0" i="0" u="none" strike="noStrike" cap="none">
              <a:solidFill>
                <a:schemeClr val="dk1"/>
              </a:solidFill>
              <a:latin typeface="Calibri"/>
              <a:ea typeface="Calibri"/>
              <a:cs typeface="Calibri"/>
              <a:sym typeface="Calibri"/>
            </a:endParaRPr>
          </a:p>
        </p:txBody>
      </p:sp>
      <p:sp>
        <p:nvSpPr>
          <p:cNvPr id="151" name="Google Shape;151;p11"/>
          <p:cNvSpPr/>
          <p:nvPr/>
        </p:nvSpPr>
        <p:spPr>
          <a:xfrm>
            <a:off x="7409656" y="2755900"/>
            <a:ext cx="3821778"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MLflow ya guardaba cada versión en MinIO: funciona como la zona de modelos.</a:t>
            </a:r>
            <a:endParaRPr sz="1400" b="0" i="0" u="none" strike="noStrike" cap="none">
              <a:solidFill>
                <a:schemeClr val="dk1"/>
              </a:solidFill>
              <a:latin typeface="Calibri"/>
              <a:ea typeface="Calibri"/>
              <a:cs typeface="Calibri"/>
              <a:sym typeface="Calibri"/>
            </a:endParaRPr>
          </a:p>
        </p:txBody>
      </p:sp>
      <p:sp>
        <p:nvSpPr>
          <p:cNvPr id="152" name="Google Shape;152;p11"/>
          <p:cNvSpPr/>
          <p:nvPr/>
        </p:nvSpPr>
        <p:spPr>
          <a:xfrm>
            <a:off x="812800" y="4376421"/>
            <a:ext cx="10883392"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0" i="0" u="none" strike="noStrike" cap="none">
                <a:solidFill>
                  <a:srgbClr val="22201D"/>
                </a:solidFill>
                <a:latin typeface="IBM Plex Sans"/>
                <a:ea typeface="IBM Plex Sans"/>
                <a:cs typeface="IBM Plex Sans"/>
                <a:sym typeface="IBM Plex Sans"/>
              </a:rPr>
              <a:t>Decisión: </a:t>
            </a:r>
            <a:r>
              <a:rPr lang="en-US" sz="1500" b="1" i="0" u="none" strike="noStrike" cap="none">
                <a:solidFill>
                  <a:srgbClr val="22201D"/>
                </a:solidFill>
                <a:latin typeface="IBM Plex Sans"/>
                <a:ea typeface="IBM Plex Sans"/>
                <a:cs typeface="IBM Plex Sans"/>
                <a:sym typeface="IBM Plex Sans"/>
              </a:rPr>
              <a:t>MLflow sigue siendo el registro</a:t>
            </a:r>
            <a:r>
              <a:rPr lang="en-US" sz="1500" b="0" i="0" u="none" strike="noStrike" cap="none">
                <a:solidFill>
                  <a:srgbClr val="22201D"/>
                </a:solidFill>
                <a:latin typeface="IBM Plex Sans"/>
                <a:ea typeface="IBM Plex Sans"/>
                <a:cs typeface="IBM Plex Sans"/>
                <a:sym typeface="IBM Plex Sans"/>
              </a:rPr>
              <a:t> de qué versión está en producción. Un archivo de versión propio en el lake (como en el mini-TP) podría contradecirlo.</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57"/>
        <p:cNvGrpSpPr/>
        <p:nvPr/>
      </p:nvGrpSpPr>
      <p:grpSpPr>
        <a:xfrm>
          <a:off x="0" y="0"/>
          <a:ext cx="0" cy="0"/>
          <a:chOff x="0" y="0"/>
          <a:chExt cx="0" cy="0"/>
        </a:xfrm>
      </p:grpSpPr>
      <p:sp>
        <p:nvSpPr>
          <p:cNvPr id="158" name="Google Shape;158;p12"/>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CLASE 7 · SEGURIDAD CON SAIF</a:t>
            </a:r>
            <a:endParaRPr sz="1300" b="0" i="0" u="none" strike="noStrike" cap="none">
              <a:solidFill>
                <a:schemeClr val="dk1"/>
              </a:solidFill>
              <a:latin typeface="Calibri"/>
              <a:ea typeface="Calibri"/>
              <a:cs typeface="Calibri"/>
              <a:sym typeface="Calibri"/>
            </a:endParaRPr>
          </a:p>
        </p:txBody>
      </p:sp>
      <p:sp>
        <p:nvSpPr>
          <p:cNvPr id="159" name="Google Shape;159;p12"/>
          <p:cNvSpPr/>
          <p:nvPr/>
        </p:nvSpPr>
        <p:spPr>
          <a:xfrm>
            <a:off x="812800" y="1297942"/>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a:solidFill>
                  <a:srgbClr val="22201D"/>
                </a:solidFill>
                <a:latin typeface="IBM Plex Sans"/>
                <a:ea typeface="IBM Plex Sans"/>
                <a:cs typeface="IBM Plex Sans"/>
                <a:sym typeface="IBM Plex Sans"/>
              </a:rPr>
              <a:t>Los mismos controles en todas las puertas</a:t>
            </a:r>
            <a:endParaRPr sz="3200" b="0" i="0" u="none" strike="noStrike" cap="none">
              <a:solidFill>
                <a:schemeClr val="dk1"/>
              </a:solidFill>
              <a:latin typeface="Calibri"/>
              <a:ea typeface="Calibri"/>
              <a:cs typeface="Calibri"/>
              <a:sym typeface="Calibri"/>
            </a:endParaRPr>
          </a:p>
        </p:txBody>
      </p:sp>
      <p:graphicFrame>
        <p:nvGraphicFramePr>
          <p:cNvPr id="160" name="Google Shape;160;p12"/>
          <p:cNvGraphicFramePr/>
          <p:nvPr/>
        </p:nvGraphicFramePr>
        <p:xfrm>
          <a:off x="822960" y="2029460"/>
          <a:ext cx="10556250" cy="2558402"/>
        </p:xfrm>
        <a:graphic>
          <a:graphicData uri="http://schemas.openxmlformats.org/drawingml/2006/table">
            <a:tbl>
              <a:tblPr>
                <a:noFill/>
                <a:tableStyleId>{45E3D7B9-5B47-45D5-BAFA-1578B30BF9EB}</a:tableStyleId>
              </a:tblPr>
              <a:tblGrid>
                <a:gridCol w="1689000">
                  <a:extLst>
                    <a:ext uri="{9D8B030D-6E8A-4147-A177-3AD203B41FA5}">
                      <a16:colId xmlns:a16="http://schemas.microsoft.com/office/drawing/2014/main" val="20000"/>
                    </a:ext>
                  </a:extLst>
                </a:gridCol>
                <a:gridCol w="5911500">
                  <a:extLst>
                    <a:ext uri="{9D8B030D-6E8A-4147-A177-3AD203B41FA5}">
                      <a16:colId xmlns:a16="http://schemas.microsoft.com/office/drawing/2014/main" val="20001"/>
                    </a:ext>
                  </a:extLst>
                </a:gridCol>
                <a:gridCol w="2955750">
                  <a:extLst>
                    <a:ext uri="{9D8B030D-6E8A-4147-A177-3AD203B41FA5}">
                      <a16:colId xmlns:a16="http://schemas.microsoft.com/office/drawing/2014/main" val="20002"/>
                    </a:ext>
                  </a:extLst>
                </a:gridCol>
              </a:tblGrid>
              <a:tr h="356875">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b="1" u="none" strike="noStrike" cap="none">
                          <a:solidFill>
                            <a:srgbClr val="22201D"/>
                          </a:solidFill>
                          <a:latin typeface="IBM Plex Sans"/>
                          <a:ea typeface="IBM Plex Sans"/>
                          <a:cs typeface="IBM Plex Sans"/>
                          <a:sym typeface="IBM Plex Sans"/>
                        </a:rPr>
                        <a:t>Capa</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b="1" u="none" strike="noStrike" cap="none">
                          <a:solidFill>
                            <a:srgbClr val="22201D"/>
                          </a:solidFill>
                          <a:latin typeface="IBM Plex Sans"/>
                          <a:ea typeface="IBM Plex Sans"/>
                          <a:cs typeface="IBM Plex Sans"/>
                          <a:sym typeface="IBM Plex Sans"/>
                        </a:rPr>
                        <a:t>Control</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BAB7B0"/>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b="1" u="none" strike="noStrike" cap="none">
                          <a:solidFill>
                            <a:srgbClr val="22201D"/>
                          </a:solidFill>
                          <a:latin typeface="IBM Plex Sans"/>
                          <a:ea typeface="IBM Plex Sans"/>
                          <a:cs typeface="IBM Plex Sans"/>
                          <a:sym typeface="IBM Plex Sans"/>
                        </a:rPr>
                        <a:t>Elemento SAIF</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BAB7B0"/>
                      </a:solidFill>
                      <a:prstDash val="solid"/>
                      <a:round/>
                      <a:headEnd type="none" w="sm" len="sm"/>
                      <a:tailEnd type="none" w="sm" len="sm"/>
                    </a:lnL>
                    <a:lnR w="12700" cap="flat" cmpd="sng">
                      <a:solidFill>
                        <a:srgbClr val="BAB7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AB7B0"/>
                      </a:solidFill>
                      <a:prstDash val="solid"/>
                      <a:round/>
                      <a:headEnd type="none" w="sm" len="sm"/>
                      <a:tailEnd type="none" w="sm" len="sm"/>
                    </a:lnB>
                    <a:solidFill>
                      <a:srgbClr val="E9E5DC"/>
                    </a:solidFill>
                  </a:tcPr>
                </a:tc>
                <a:extLst>
                  <a:ext uri="{0D108BD9-81ED-4DB2-BD59-A6C34878D82A}">
                    <a16:rowId xmlns:a16="http://schemas.microsoft.com/office/drawing/2014/main" val="10000"/>
                  </a:ext>
                </a:extLst>
              </a:tr>
              <a:tr h="356875">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Todas</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token JWT con rol · validación con rangos de train · auditoría en el lake</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bases sólidas · detectar</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7B0"/>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1"/>
                  </a:ext>
                </a:extLst>
              </a:tr>
              <a:tr h="356875">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REST</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60 pedidos por minuto por usuario · cuerpo ≤ 16 KB</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automatizar defensas</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extLst>
                  <a:ext uri="{0D108BD9-81ED-4DB2-BD59-A6C34878D82A}">
                    <a16:rowId xmlns:a16="http://schemas.microsoft.com/office/drawing/2014/main" val="10002"/>
                  </a:ext>
                </a:extLst>
              </a:tr>
              <a:tr h="356875">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GraphQL</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sin introspección · profundidad ≤ 5 · costo ≤ 200 · permiso por campo</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automatizar defensas</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3"/>
                  </a:ext>
                </a:extLst>
              </a:tr>
              <a:tr h="356875">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gRPC</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solo TLS · interceptor · mensaje ≤ 1 MB · lote ≤ 100</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bases sólidas</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extLst>
                  <a:ext uri="{0D108BD9-81ED-4DB2-BD59-A6C34878D82A}">
                    <a16:rowId xmlns:a16="http://schemas.microsoft.com/office/drawing/2014/main" val="10004"/>
                  </a:ext>
                </a:extLst>
              </a:tr>
              <a:tr h="356875">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Streaming</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firma HMAC por concesionaria · anti-replay · cuarentena (DLQ) + alerta</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automatizar · detectar y actuar</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FBCB7"/>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5"/>
                  </a:ext>
                </a:extLst>
              </a:tr>
              <a:tr h="356875">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Lake</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C4C2BE"/>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un usuario de MinIO por servicio · sin borrado · versionado</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tc>
                  <a:txBody>
                    <a:bodyPr/>
                    <a:lstStyle/>
                    <a:p>
                      <a:pPr marL="0" marR="0" lvl="0" indent="0" algn="l" rtl="0">
                        <a:lnSpc>
                          <a:spcPct val="140000"/>
                        </a:lnSpc>
                        <a:spcBef>
                          <a:spcPts val="0"/>
                        </a:spcBef>
                        <a:spcAft>
                          <a:spcPts val="0"/>
                        </a:spcAft>
                        <a:buClr>
                          <a:srgbClr val="22201D"/>
                        </a:buClr>
                        <a:buSzPts val="1300"/>
                        <a:buFont typeface="IBM Plex Sans"/>
                        <a:buNone/>
                      </a:pPr>
                      <a:r>
                        <a:rPr lang="en-US" sz="1300" u="none" strike="noStrike" cap="none">
                          <a:solidFill>
                            <a:srgbClr val="22201D"/>
                          </a:solidFill>
                          <a:latin typeface="IBM Plex Sans"/>
                          <a:ea typeface="IBM Plex Sans"/>
                          <a:cs typeface="IBM Plex Sans"/>
                          <a:sym typeface="IBM Plex Sans"/>
                        </a:rPr>
                        <a:t>coherencia de controles</a:t>
                      </a:r>
                      <a:endParaRPr sz="1300" u="none" strike="noStrike" cap="none">
                        <a:latin typeface="IBM Plex Sans"/>
                        <a:ea typeface="IBM Plex Sans"/>
                        <a:cs typeface="IBM Plex Sans"/>
                        <a:sym typeface="IBM Plex Sans"/>
                      </a:endParaRPr>
                    </a:p>
                  </a:txBody>
                  <a:tcPr marL="57775" marR="57775" marT="57775" marB="57775">
                    <a:lnL w="12700" cap="flat" cmpd="sng">
                      <a:solidFill>
                        <a:srgbClr val="BFBCB7"/>
                      </a:solidFill>
                      <a:prstDash val="solid"/>
                      <a:round/>
                      <a:headEnd type="none" w="sm" len="sm"/>
                      <a:tailEnd type="none" w="sm" len="sm"/>
                    </a:lnL>
                    <a:lnR w="12700" cap="flat" cmpd="sng">
                      <a:solidFill>
                        <a:srgbClr val="BFBCB7"/>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FBCB7"/>
                      </a:solidFill>
                      <a:prstDash val="solid"/>
                      <a:round/>
                      <a:headEnd type="none" w="sm" len="sm"/>
                      <a:tailEnd type="none" w="sm" len="sm"/>
                    </a:lnB>
                    <a:solidFill>
                      <a:srgbClr val="EFECE5"/>
                    </a:solidFill>
                  </a:tcPr>
                </a:tc>
                <a:extLst>
                  <a:ext uri="{0D108BD9-81ED-4DB2-BD59-A6C34878D82A}">
                    <a16:rowId xmlns:a16="http://schemas.microsoft.com/office/drawing/2014/main" val="10006"/>
                  </a:ext>
                </a:extLst>
              </a:tr>
            </a:tbl>
          </a:graphicData>
        </a:graphic>
      </p:graphicFrame>
      <p:sp>
        <p:nvSpPr>
          <p:cNvPr id="161" name="Google Shape;161;p12"/>
          <p:cNvSpPr/>
          <p:nvPr/>
        </p:nvSpPr>
        <p:spPr>
          <a:xfrm>
            <a:off x="812800" y="6238242"/>
            <a:ext cx="1088339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F897E"/>
              </a:buClr>
              <a:buSzPts val="1200"/>
              <a:buFont typeface="IBM Plex Sans"/>
              <a:buNone/>
            </a:pPr>
            <a:r>
              <a:rPr lang="en-US" sz="1200" b="0" i="0" u="none" strike="noStrike" cap="none">
                <a:solidFill>
                  <a:srgbClr val="8F897E"/>
                </a:solidFill>
                <a:latin typeface="IBM Plex Sans"/>
                <a:ea typeface="IBM Plex Sans"/>
                <a:cs typeface="IBM Plex Sans"/>
                <a:sym typeface="IBM Plex Sans"/>
              </a:rPr>
              <a:t>Un solo módulo, seguridad.py, copiado en cada imagen: mismos tokens, roles y formato de auditoría</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66"/>
        <p:cNvGrpSpPr/>
        <p:nvPr/>
      </p:nvGrpSpPr>
      <p:grpSpPr>
        <a:xfrm>
          <a:off x="0" y="0"/>
          <a:ext cx="0" cy="0"/>
          <a:chOff x="0" y="0"/>
          <a:chExt cx="0" cy="0"/>
        </a:xfrm>
      </p:grpSpPr>
      <p:sp>
        <p:nvSpPr>
          <p:cNvPr id="167" name="Google Shape;167;p13"/>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CLASE 7 · INTEGRIDAD DEL MODELO</a:t>
            </a:r>
            <a:endParaRPr sz="1300" b="0" i="0" u="none" strike="noStrike" cap="none">
              <a:solidFill>
                <a:schemeClr val="dk1"/>
              </a:solidFill>
              <a:latin typeface="Calibri"/>
              <a:ea typeface="Calibri"/>
              <a:cs typeface="Calibri"/>
              <a:sym typeface="Calibri"/>
            </a:endParaRPr>
          </a:p>
        </p:txBody>
      </p:sp>
      <p:sp>
        <p:nvSpPr>
          <p:cNvPr id="168" name="Google Shape;168;p13"/>
          <p:cNvSpPr/>
          <p:nvPr/>
        </p:nvSpPr>
        <p:spPr>
          <a:xfrm>
            <a:off x="812800" y="1348742"/>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a:solidFill>
                  <a:srgbClr val="22201D"/>
                </a:solidFill>
                <a:latin typeface="IBM Plex Sans"/>
                <a:ea typeface="IBM Plex Sans"/>
                <a:cs typeface="IBM Plex Sans"/>
                <a:sym typeface="IBM Plex Sans"/>
              </a:rPr>
              <a:t>El modelo se verifica antes de cargarse</a:t>
            </a:r>
            <a:endParaRPr sz="3200" b="0" i="0" u="none" strike="noStrike" cap="none">
              <a:solidFill>
                <a:schemeClr val="dk1"/>
              </a:solidFill>
              <a:latin typeface="Calibri"/>
              <a:ea typeface="Calibri"/>
              <a:cs typeface="Calibri"/>
              <a:sym typeface="Calibri"/>
            </a:endParaRPr>
          </a:p>
        </p:txBody>
      </p:sp>
      <p:sp>
        <p:nvSpPr>
          <p:cNvPr id="169" name="Google Shape;169;p13"/>
          <p:cNvSpPr/>
          <p:nvPr/>
        </p:nvSpPr>
        <p:spPr>
          <a:xfrm>
            <a:off x="815975" y="2124075"/>
            <a:ext cx="3075464" cy="1423670"/>
          </a:xfrm>
          <a:prstGeom prst="roundRect">
            <a:avLst>
              <a:gd name="adj" fmla="val 5129"/>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3"/>
          <p:cNvSpPr/>
          <p:nvPr/>
        </p:nvSpPr>
        <p:spPr>
          <a:xfrm>
            <a:off x="1021080" y="2329179"/>
            <a:ext cx="2745211" cy="269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600"/>
              <a:buFont typeface="IBM Plex Sans"/>
              <a:buNone/>
            </a:pPr>
            <a:r>
              <a:rPr lang="en-US" sz="1600" b="1" i="0" u="none" strike="noStrike" cap="none">
                <a:solidFill>
                  <a:srgbClr val="22201D"/>
                </a:solidFill>
                <a:latin typeface="IBM Plex Sans"/>
                <a:ea typeface="IBM Plex Sans"/>
                <a:cs typeface="IBM Plex Sans"/>
                <a:sym typeface="IBM Plex Sans"/>
              </a:rPr>
              <a:t>1 · lake-preparar</a:t>
            </a:r>
            <a:endParaRPr sz="1600" b="0" i="0" u="none" strike="noStrike" cap="none">
              <a:solidFill>
                <a:schemeClr val="dk1"/>
              </a:solidFill>
              <a:latin typeface="Calibri"/>
              <a:ea typeface="Calibri"/>
              <a:cs typeface="Calibri"/>
              <a:sym typeface="Calibri"/>
            </a:endParaRPr>
          </a:p>
        </p:txBody>
      </p:sp>
      <p:sp>
        <p:nvSpPr>
          <p:cNvPr id="171" name="Google Shape;171;p13"/>
          <p:cNvSpPr/>
          <p:nvPr/>
        </p:nvSpPr>
        <p:spPr>
          <a:xfrm>
            <a:off x="1021080" y="2649221"/>
            <a:ext cx="2745211" cy="7188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300"/>
              <a:buFont typeface="IBM Plex Sans"/>
              <a:buNone/>
            </a:pPr>
            <a:r>
              <a:rPr lang="en-US" sz="1300" b="0" i="0" u="none" strike="noStrike" cap="none">
                <a:solidFill>
                  <a:srgbClr val="5E5A54"/>
                </a:solidFill>
                <a:latin typeface="IBM Plex Sans"/>
                <a:ea typeface="IBM Plex Sans"/>
                <a:cs typeface="IBM Plex Sans"/>
                <a:sym typeface="IBM Plex Sans"/>
              </a:rPr>
              <a:t>Calcula el SHA-256 de cada archivo del modelo y lo guarda en su run de MLflow.</a:t>
            </a:r>
            <a:endParaRPr sz="1300" b="0" i="0" u="none" strike="noStrike" cap="none">
              <a:solidFill>
                <a:schemeClr val="dk1"/>
              </a:solidFill>
              <a:latin typeface="Calibri"/>
              <a:ea typeface="Calibri"/>
              <a:cs typeface="Calibri"/>
              <a:sym typeface="Calibri"/>
            </a:endParaRPr>
          </a:p>
        </p:txBody>
      </p:sp>
      <p:pic>
        <p:nvPicPr>
          <p:cNvPr id="172" name="Google Shape;172;p13" descr="arrow-right"/>
          <p:cNvPicPr preferRelativeResize="0"/>
          <p:nvPr/>
        </p:nvPicPr>
        <p:blipFill rotWithShape="1">
          <a:blip r:embed="rId3">
            <a:alphaModFix/>
          </a:blip>
          <a:srcRect/>
          <a:stretch/>
        </p:blipFill>
        <p:spPr>
          <a:xfrm>
            <a:off x="4047014" y="2734314"/>
            <a:ext cx="355600" cy="203200"/>
          </a:xfrm>
          <a:prstGeom prst="rect">
            <a:avLst/>
          </a:prstGeom>
          <a:noFill/>
          <a:ln>
            <a:noFill/>
          </a:ln>
        </p:spPr>
      </p:pic>
      <p:sp>
        <p:nvSpPr>
          <p:cNvPr id="173" name="Google Shape;173;p13"/>
          <p:cNvSpPr/>
          <p:nvPr/>
        </p:nvSpPr>
        <p:spPr>
          <a:xfrm>
            <a:off x="4558189" y="2239646"/>
            <a:ext cx="3075543" cy="1192530"/>
          </a:xfrm>
          <a:prstGeom prst="roundRect">
            <a:avLst>
              <a:gd name="adj" fmla="val 6124"/>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3"/>
          <p:cNvSpPr/>
          <p:nvPr/>
        </p:nvSpPr>
        <p:spPr>
          <a:xfrm>
            <a:off x="4763294" y="2444750"/>
            <a:ext cx="2745293" cy="269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600"/>
              <a:buFont typeface="IBM Plex Sans"/>
              <a:buNone/>
            </a:pPr>
            <a:r>
              <a:rPr lang="en-US" sz="1600" b="1" i="0" u="none" strike="noStrike" cap="none">
                <a:solidFill>
                  <a:srgbClr val="22201D"/>
                </a:solidFill>
                <a:latin typeface="IBM Plex Sans"/>
                <a:ea typeface="IBM Plex Sans"/>
                <a:cs typeface="IBM Plex Sans"/>
                <a:sym typeface="IBM Plex Sans"/>
              </a:rPr>
              <a:t>2 · cada capa</a:t>
            </a:r>
            <a:endParaRPr sz="1600" b="0" i="0" u="none" strike="noStrike" cap="none">
              <a:solidFill>
                <a:schemeClr val="dk1"/>
              </a:solidFill>
              <a:latin typeface="Calibri"/>
              <a:ea typeface="Calibri"/>
              <a:cs typeface="Calibri"/>
              <a:sym typeface="Calibri"/>
            </a:endParaRPr>
          </a:p>
        </p:txBody>
      </p:sp>
      <p:sp>
        <p:nvSpPr>
          <p:cNvPr id="175" name="Google Shape;175;p13"/>
          <p:cNvSpPr/>
          <p:nvPr/>
        </p:nvSpPr>
        <p:spPr>
          <a:xfrm>
            <a:off x="4763294" y="2764792"/>
            <a:ext cx="2745293" cy="4876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300"/>
              <a:buFont typeface="IBM Plex Sans"/>
              <a:buNone/>
            </a:pPr>
            <a:r>
              <a:rPr lang="en-US" sz="1300" b="0" i="0" u="none" strike="noStrike" cap="none">
                <a:solidFill>
                  <a:srgbClr val="5E5A54"/>
                </a:solidFill>
                <a:latin typeface="IBM Plex Sans"/>
                <a:ea typeface="IBM Plex Sans"/>
                <a:cs typeface="IBM Plex Sans"/>
                <a:sym typeface="IBM Plex Sans"/>
              </a:rPr>
              <a:t>Al arrancar baja el modelo, recalcula la huella y la compara.</a:t>
            </a:r>
            <a:endParaRPr sz="1300" b="0" i="0" u="none" strike="noStrike" cap="none">
              <a:solidFill>
                <a:schemeClr val="dk1"/>
              </a:solidFill>
              <a:latin typeface="Calibri"/>
              <a:ea typeface="Calibri"/>
              <a:cs typeface="Calibri"/>
              <a:sym typeface="Calibri"/>
            </a:endParaRPr>
          </a:p>
        </p:txBody>
      </p:sp>
      <p:pic>
        <p:nvPicPr>
          <p:cNvPr id="176" name="Google Shape;176;p13" descr="arrow-right"/>
          <p:cNvPicPr preferRelativeResize="0"/>
          <p:nvPr/>
        </p:nvPicPr>
        <p:blipFill rotWithShape="1">
          <a:blip r:embed="rId3">
            <a:alphaModFix/>
          </a:blip>
          <a:srcRect/>
          <a:stretch/>
        </p:blipFill>
        <p:spPr>
          <a:xfrm>
            <a:off x="7789307" y="2734314"/>
            <a:ext cx="355600" cy="203200"/>
          </a:xfrm>
          <a:prstGeom prst="rect">
            <a:avLst/>
          </a:prstGeom>
          <a:noFill/>
          <a:ln>
            <a:noFill/>
          </a:ln>
        </p:spPr>
      </p:pic>
      <p:sp>
        <p:nvSpPr>
          <p:cNvPr id="177" name="Google Shape;177;p13"/>
          <p:cNvSpPr/>
          <p:nvPr/>
        </p:nvSpPr>
        <p:spPr>
          <a:xfrm>
            <a:off x="8300482" y="2239646"/>
            <a:ext cx="3075543" cy="1192530"/>
          </a:xfrm>
          <a:prstGeom prst="roundRect">
            <a:avLst>
              <a:gd name="adj" fmla="val 6124"/>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3"/>
          <p:cNvSpPr/>
          <p:nvPr/>
        </p:nvSpPr>
        <p:spPr>
          <a:xfrm>
            <a:off x="8505587" y="2444750"/>
            <a:ext cx="2745293" cy="269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600"/>
              <a:buFont typeface="IBM Plex Sans"/>
              <a:buNone/>
            </a:pPr>
            <a:r>
              <a:rPr lang="en-US" sz="1600" b="1" i="0" u="none" strike="noStrike" cap="none">
                <a:solidFill>
                  <a:srgbClr val="22201D"/>
                </a:solidFill>
                <a:latin typeface="IBM Plex Sans"/>
                <a:ea typeface="IBM Plex Sans"/>
                <a:cs typeface="IBM Plex Sans"/>
                <a:sym typeface="IBM Plex Sans"/>
              </a:rPr>
              <a:t>3 · resultado</a:t>
            </a:r>
            <a:endParaRPr sz="1600" b="0" i="0" u="none" strike="noStrike" cap="none">
              <a:solidFill>
                <a:schemeClr val="dk1"/>
              </a:solidFill>
              <a:latin typeface="Calibri"/>
              <a:ea typeface="Calibri"/>
              <a:cs typeface="Calibri"/>
              <a:sym typeface="Calibri"/>
            </a:endParaRPr>
          </a:p>
        </p:txBody>
      </p:sp>
      <p:sp>
        <p:nvSpPr>
          <p:cNvPr id="179" name="Google Shape;179;p13"/>
          <p:cNvSpPr/>
          <p:nvPr/>
        </p:nvSpPr>
        <p:spPr>
          <a:xfrm>
            <a:off x="8505587" y="2764792"/>
            <a:ext cx="2745293" cy="4876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300"/>
              <a:buFont typeface="IBM Plex Sans"/>
              <a:buNone/>
            </a:pPr>
            <a:r>
              <a:rPr lang="en-US" sz="1300" b="0" i="0" u="none" strike="noStrike" cap="none">
                <a:solidFill>
                  <a:srgbClr val="5E5A54"/>
                </a:solidFill>
                <a:latin typeface="IBM Plex Sans"/>
                <a:ea typeface="IBM Plex Sans"/>
                <a:cs typeface="IBM Plex Sans"/>
                <a:sym typeface="IBM Plex Sans"/>
              </a:rPr>
              <a:t>Coincide: lo carga. No coincide: no lo abre, ni ejecuta lo que traiga.</a:t>
            </a:r>
            <a:endParaRPr sz="1300" b="0" i="0" u="none" strike="noStrike" cap="none">
              <a:solidFill>
                <a:schemeClr val="dk1"/>
              </a:solidFill>
              <a:latin typeface="Calibri"/>
              <a:ea typeface="Calibri"/>
              <a:cs typeface="Calibri"/>
              <a:sym typeface="Calibri"/>
            </a:endParaRPr>
          </a:p>
        </p:txBody>
      </p:sp>
      <p:sp>
        <p:nvSpPr>
          <p:cNvPr id="180" name="Google Shape;180;p13"/>
          <p:cNvSpPr/>
          <p:nvPr/>
        </p:nvSpPr>
        <p:spPr>
          <a:xfrm>
            <a:off x="812800" y="3855721"/>
            <a:ext cx="10883392" cy="55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500"/>
              <a:buFont typeface="IBM Plex Sans"/>
              <a:buNone/>
            </a:pPr>
            <a:r>
              <a:rPr lang="en-US" sz="1500" b="0" i="0" u="none" strike="noStrike" cap="none">
                <a:solidFill>
                  <a:srgbClr val="22201D"/>
                </a:solidFill>
                <a:latin typeface="IBM Plex Sans"/>
                <a:ea typeface="IBM Plex Sans"/>
                <a:cs typeface="IBM Plex Sans"/>
                <a:sym typeface="IBM Plex Sans"/>
              </a:rPr>
              <a:t>El hash sirve porque </a:t>
            </a:r>
            <a:r>
              <a:rPr lang="en-US" sz="1500" b="1" i="0" u="none" strike="noStrike" cap="none">
                <a:solidFill>
                  <a:srgbClr val="22201D"/>
                </a:solidFill>
                <a:latin typeface="IBM Plex Sans"/>
                <a:ea typeface="IBM Plex Sans"/>
                <a:cs typeface="IBM Plex Sans"/>
                <a:sym typeface="IBM Plex Sans"/>
              </a:rPr>
              <a:t>nadie que sirve el modelo puede escribirlo</a:t>
            </a:r>
            <a:r>
              <a:rPr lang="en-US" sz="1500" b="0" i="0" u="none" strike="noStrike" cap="none">
                <a:solidFill>
                  <a:srgbClr val="22201D"/>
                </a:solidFill>
                <a:latin typeface="IBM Plex Sans"/>
                <a:ea typeface="IBM Plex Sans"/>
                <a:cs typeface="IBM Plex Sans"/>
                <a:sym typeface="IBM Plex Sans"/>
              </a:rPr>
              <a:t>: cada capa tiene su propio usuario de MinIO, de solo lectura sobre los modelos, y recibe solo sus secretos.</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85"/>
        <p:cNvGrpSpPr/>
        <p:nvPr/>
      </p:nvGrpSpPr>
      <p:grpSpPr>
        <a:xfrm>
          <a:off x="0" y="0"/>
          <a:ext cx="0" cy="0"/>
          <a:chOff x="0" y="0"/>
          <a:chExt cx="0" cy="0"/>
        </a:xfrm>
      </p:grpSpPr>
      <p:sp>
        <p:nvSpPr>
          <p:cNvPr id="186" name="Google Shape;186;p14"/>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CÓMO SE VERIFICA</a:t>
            </a:r>
            <a:endParaRPr sz="1300" b="0" i="0" u="none" strike="noStrike" cap="none">
              <a:solidFill>
                <a:schemeClr val="dk1"/>
              </a:solidFill>
              <a:latin typeface="Calibri"/>
              <a:ea typeface="Calibri"/>
              <a:cs typeface="Calibri"/>
              <a:sym typeface="Calibri"/>
            </a:endParaRPr>
          </a:p>
        </p:txBody>
      </p:sp>
      <p:sp>
        <p:nvSpPr>
          <p:cNvPr id="187" name="Google Shape;187;p14"/>
          <p:cNvSpPr/>
          <p:nvPr/>
        </p:nvSpPr>
        <p:spPr>
          <a:xfrm>
            <a:off x="812800" y="1399542"/>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a:solidFill>
                  <a:srgbClr val="22201D"/>
                </a:solidFill>
                <a:latin typeface="IBM Plex Sans"/>
                <a:ea typeface="IBM Plex Sans"/>
                <a:cs typeface="IBM Plex Sans"/>
                <a:sym typeface="IBM Plex Sans"/>
              </a:rPr>
              <a:t>Probado contra el sistema real, ¿qué obtuvimos?</a:t>
            </a:r>
            <a:endParaRPr sz="3200" b="0" i="0" u="none" strike="noStrike" cap="none">
              <a:solidFill>
                <a:schemeClr val="dk1"/>
              </a:solidFill>
              <a:latin typeface="Calibri"/>
              <a:ea typeface="Calibri"/>
              <a:cs typeface="Calibri"/>
              <a:sym typeface="Calibri"/>
            </a:endParaRPr>
          </a:p>
        </p:txBody>
      </p:sp>
      <p:sp>
        <p:nvSpPr>
          <p:cNvPr id="188" name="Google Shape;188;p14"/>
          <p:cNvSpPr/>
          <p:nvPr/>
        </p:nvSpPr>
        <p:spPr>
          <a:xfrm>
            <a:off x="812800" y="2222500"/>
            <a:ext cx="3453384" cy="78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E6DA4"/>
              </a:buClr>
              <a:buSzPts val="6000"/>
              <a:buFont typeface="IBM Plex Sans"/>
              <a:buNone/>
            </a:pPr>
            <a:r>
              <a:rPr lang="en-US" sz="6000" b="1" i="0" u="none" strike="noStrike" cap="none">
                <a:solidFill>
                  <a:srgbClr val="2E6DA4"/>
                </a:solidFill>
                <a:latin typeface="IBM Plex Sans"/>
                <a:ea typeface="IBM Plex Sans"/>
                <a:cs typeface="IBM Plex Sans"/>
                <a:sym typeface="IBM Plex Sans"/>
              </a:rPr>
              <a:t>84</a:t>
            </a:r>
            <a:endParaRPr sz="6000" b="0" i="0" u="none" strike="noStrike" cap="none">
              <a:solidFill>
                <a:schemeClr val="dk1"/>
              </a:solidFill>
              <a:latin typeface="Calibri"/>
              <a:ea typeface="Calibri"/>
              <a:cs typeface="Calibri"/>
              <a:sym typeface="Calibri"/>
            </a:endParaRPr>
          </a:p>
        </p:txBody>
      </p:sp>
      <p:sp>
        <p:nvSpPr>
          <p:cNvPr id="189" name="Google Shape;189;p14"/>
          <p:cNvSpPr/>
          <p:nvPr/>
        </p:nvSpPr>
        <p:spPr>
          <a:xfrm>
            <a:off x="812800" y="3035300"/>
            <a:ext cx="3453384"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dirty="0">
                <a:solidFill>
                  <a:srgbClr val="22201D"/>
                </a:solidFill>
                <a:latin typeface="IBM Plex Sans"/>
                <a:ea typeface="IBM Plex Sans"/>
                <a:cs typeface="IBM Plex Sans"/>
                <a:sym typeface="IBM Plex Sans"/>
              </a:rPr>
              <a:t>tests </a:t>
            </a:r>
            <a:r>
              <a:rPr lang="en-US" sz="1400" b="0" i="0" u="none" strike="noStrike" cap="none" dirty="0" err="1">
                <a:solidFill>
                  <a:srgbClr val="22201D"/>
                </a:solidFill>
                <a:latin typeface="IBM Plex Sans"/>
                <a:ea typeface="IBM Plex Sans"/>
                <a:cs typeface="IBM Plex Sans"/>
                <a:sym typeface="IBM Plex Sans"/>
              </a:rPr>
              <a:t>unitarios</a:t>
            </a:r>
            <a:r>
              <a:rPr lang="en-US" sz="1400" b="0" i="0" u="none" strike="noStrike" cap="none" dirty="0">
                <a:solidFill>
                  <a:srgbClr val="22201D"/>
                </a:solidFill>
                <a:latin typeface="IBM Plex Sans"/>
                <a:ea typeface="IBM Plex Sans"/>
                <a:cs typeface="IBM Plex Sans"/>
                <a:sym typeface="IBM Plex Sans"/>
              </a:rPr>
              <a:t> del </a:t>
            </a:r>
            <a:r>
              <a:rPr lang="en-US" sz="1400" b="0" i="0" u="none" strike="noStrike" cap="none" dirty="0" err="1">
                <a:solidFill>
                  <a:srgbClr val="22201D"/>
                </a:solidFill>
                <a:latin typeface="IBM Plex Sans"/>
                <a:ea typeface="IBM Plex Sans"/>
                <a:cs typeface="IBM Plex Sans"/>
                <a:sym typeface="IBM Plex Sans"/>
              </a:rPr>
              <a:t>módulo</a:t>
            </a:r>
            <a:r>
              <a:rPr lang="en-US" sz="1400" b="0" i="0" u="none" strike="noStrike" cap="none" dirty="0">
                <a:solidFill>
                  <a:srgbClr val="22201D"/>
                </a:solidFill>
                <a:latin typeface="IBM Plex Sans"/>
                <a:ea typeface="IBM Plex Sans"/>
                <a:cs typeface="IBM Plex Sans"/>
                <a:sym typeface="IBM Plex Sans"/>
              </a:rPr>
              <a:t> de </a:t>
            </a:r>
            <a:r>
              <a:rPr lang="en-US" sz="1400" b="0" i="0" u="none" strike="noStrike" cap="none" dirty="0" err="1">
                <a:solidFill>
                  <a:srgbClr val="22201D"/>
                </a:solidFill>
                <a:latin typeface="IBM Plex Sans"/>
                <a:ea typeface="IBM Plex Sans"/>
                <a:cs typeface="IBM Plex Sans"/>
                <a:sym typeface="IBM Plex Sans"/>
              </a:rPr>
              <a:t>seguridad</a:t>
            </a:r>
            <a:r>
              <a:rPr lang="en-US" sz="1400" b="0" i="0" u="none" strike="noStrike" cap="none" dirty="0">
                <a:solidFill>
                  <a:srgbClr val="22201D"/>
                </a:solidFill>
                <a:latin typeface="IBM Plex Sans"/>
                <a:ea typeface="IBM Plex Sans"/>
                <a:cs typeface="IBM Plex Sans"/>
                <a:sym typeface="IBM Plex Sans"/>
              </a:rPr>
              <a:t>,  </a:t>
            </a:r>
            <a:r>
              <a:rPr lang="en-US" sz="1400" b="0" i="0" u="none" strike="noStrike" cap="none" dirty="0" err="1">
                <a:solidFill>
                  <a:srgbClr val="22201D"/>
                </a:solidFill>
                <a:latin typeface="IBM Plex Sans"/>
                <a:ea typeface="IBM Plex Sans"/>
                <a:cs typeface="IBM Plex Sans"/>
                <a:sym typeface="IBM Plex Sans"/>
              </a:rPr>
              <a:t>en</a:t>
            </a:r>
            <a:r>
              <a:rPr lang="en-US" sz="1400" b="0" i="0" u="none" strike="noStrike" cap="none" dirty="0">
                <a:solidFill>
                  <a:srgbClr val="22201D"/>
                </a:solidFill>
                <a:latin typeface="IBM Plex Sans"/>
                <a:ea typeface="IBM Plex Sans"/>
                <a:cs typeface="IBM Plex Sans"/>
                <a:sym typeface="IBM Plex Sans"/>
              </a:rPr>
              <a:t> un </a:t>
            </a:r>
            <a:r>
              <a:rPr lang="en-US" sz="1400" b="0" i="0" u="none" strike="noStrike" cap="none" dirty="0" err="1">
                <a:solidFill>
                  <a:srgbClr val="22201D"/>
                </a:solidFill>
                <a:latin typeface="IBM Plex Sans"/>
                <a:ea typeface="IBM Plex Sans"/>
                <a:cs typeface="IBM Plex Sans"/>
                <a:sym typeface="IBM Plex Sans"/>
              </a:rPr>
              <a:t>contenedor</a:t>
            </a:r>
            <a:endParaRPr sz="1400" b="0" i="0" u="none" strike="noStrike" cap="none" dirty="0">
              <a:solidFill>
                <a:schemeClr val="dk1"/>
              </a:solidFill>
              <a:latin typeface="Calibri"/>
              <a:ea typeface="Calibri"/>
              <a:cs typeface="Calibri"/>
              <a:sym typeface="Calibri"/>
            </a:endParaRPr>
          </a:p>
        </p:txBody>
      </p:sp>
      <p:sp>
        <p:nvSpPr>
          <p:cNvPr id="190" name="Google Shape;190;p14"/>
          <p:cNvSpPr/>
          <p:nvPr/>
        </p:nvSpPr>
        <p:spPr>
          <a:xfrm>
            <a:off x="4419600" y="2222500"/>
            <a:ext cx="3453384" cy="78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E6DA4"/>
              </a:buClr>
              <a:buSzPts val="6000"/>
              <a:buFont typeface="IBM Plex Sans"/>
              <a:buNone/>
            </a:pPr>
            <a:r>
              <a:rPr lang="en-US" sz="6000" b="1" i="0" u="none" strike="noStrike" cap="none">
                <a:solidFill>
                  <a:srgbClr val="2E6DA4"/>
                </a:solidFill>
                <a:latin typeface="IBM Plex Sans"/>
                <a:ea typeface="IBM Plex Sans"/>
                <a:cs typeface="IBM Plex Sans"/>
                <a:sym typeface="IBM Plex Sans"/>
              </a:rPr>
              <a:t>28</a:t>
            </a:r>
            <a:endParaRPr sz="6000" b="0" i="0" u="none" strike="noStrike" cap="none">
              <a:solidFill>
                <a:schemeClr val="dk1"/>
              </a:solidFill>
              <a:latin typeface="Calibri"/>
              <a:ea typeface="Calibri"/>
              <a:cs typeface="Calibri"/>
              <a:sym typeface="Calibri"/>
            </a:endParaRPr>
          </a:p>
        </p:txBody>
      </p:sp>
      <p:sp>
        <p:nvSpPr>
          <p:cNvPr id="191" name="Google Shape;191;p14"/>
          <p:cNvSpPr/>
          <p:nvPr/>
        </p:nvSpPr>
        <p:spPr>
          <a:xfrm>
            <a:off x="4419600" y="3035300"/>
            <a:ext cx="3453384"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ataques del demo contra las capas levantadas, todos frenados</a:t>
            </a:r>
            <a:endParaRPr sz="1400" b="0" i="0" u="none" strike="noStrike" cap="none">
              <a:solidFill>
                <a:schemeClr val="dk1"/>
              </a:solidFill>
              <a:latin typeface="Calibri"/>
              <a:ea typeface="Calibri"/>
              <a:cs typeface="Calibri"/>
              <a:sym typeface="Calibri"/>
            </a:endParaRPr>
          </a:p>
        </p:txBody>
      </p:sp>
      <p:sp>
        <p:nvSpPr>
          <p:cNvPr id="192" name="Google Shape;192;p14"/>
          <p:cNvSpPr/>
          <p:nvPr/>
        </p:nvSpPr>
        <p:spPr>
          <a:xfrm>
            <a:off x="8026400" y="2222500"/>
            <a:ext cx="3453384" cy="78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E6DA4"/>
              </a:buClr>
              <a:buSzPts val="6000"/>
              <a:buFont typeface="IBM Plex Sans"/>
              <a:buNone/>
            </a:pPr>
            <a:r>
              <a:rPr lang="en-US" sz="6000" b="1" i="0" u="none" strike="noStrike" cap="none">
                <a:solidFill>
                  <a:srgbClr val="2E6DA4"/>
                </a:solidFill>
                <a:latin typeface="IBM Plex Sans"/>
                <a:ea typeface="IBM Plex Sans"/>
                <a:cs typeface="IBM Plex Sans"/>
                <a:sym typeface="IBM Plex Sans"/>
              </a:rPr>
              <a:t>0</a:t>
            </a:r>
            <a:endParaRPr sz="6000" b="0" i="0" u="none" strike="noStrike" cap="none">
              <a:solidFill>
                <a:schemeClr val="dk1"/>
              </a:solidFill>
              <a:latin typeface="Calibri"/>
              <a:ea typeface="Calibri"/>
              <a:cs typeface="Calibri"/>
              <a:sym typeface="Calibri"/>
            </a:endParaRPr>
          </a:p>
        </p:txBody>
      </p:sp>
      <p:sp>
        <p:nvSpPr>
          <p:cNvPr id="193" name="Google Shape;193;p14"/>
          <p:cNvSpPr/>
          <p:nvPr/>
        </p:nvSpPr>
        <p:spPr>
          <a:xfrm>
            <a:off x="8026400" y="3035300"/>
            <a:ext cx="3453384" cy="5232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2201D"/>
              </a:buClr>
              <a:buSzPts val="1400"/>
              <a:buFont typeface="IBM Plex Sans"/>
              <a:buNone/>
            </a:pPr>
            <a:r>
              <a:rPr lang="en-US" sz="1400" b="0" i="0" u="none" strike="noStrike" cap="none">
                <a:solidFill>
                  <a:srgbClr val="22201D"/>
                </a:solidFill>
                <a:latin typeface="IBM Plex Sans"/>
                <a:ea typeface="IBM Plex Sans"/>
                <a:cs typeface="IBM Plex Sans"/>
                <a:sym typeface="IBM Plex Sans"/>
              </a:rPr>
              <a:t>archivos de MLOps 1 modificados en todo el TP</a:t>
            </a:r>
            <a:endParaRPr sz="1400" b="0" i="0" u="none" strike="noStrike" cap="none">
              <a:solidFill>
                <a:schemeClr val="dk1"/>
              </a:solidFill>
              <a:latin typeface="Calibri"/>
              <a:ea typeface="Calibri"/>
              <a:cs typeface="Calibri"/>
              <a:sym typeface="Calibri"/>
            </a:endParaRPr>
          </a:p>
        </p:txBody>
      </p:sp>
      <p:sp>
        <p:nvSpPr>
          <p:cNvPr id="194" name="Google Shape;194;p14"/>
          <p:cNvSpPr/>
          <p:nvPr/>
        </p:nvSpPr>
        <p:spPr>
          <a:xfrm>
            <a:off x="815975" y="3891917"/>
            <a:ext cx="10560050" cy="1192530"/>
          </a:xfrm>
          <a:prstGeom prst="roundRect">
            <a:avLst>
              <a:gd name="adj" fmla="val 6124"/>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4"/>
          <p:cNvSpPr/>
          <p:nvPr/>
        </p:nvSpPr>
        <p:spPr>
          <a:xfrm>
            <a:off x="1071880" y="4097021"/>
            <a:ext cx="10349687" cy="26924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2201D"/>
              </a:buClr>
              <a:buSzPts val="1600"/>
              <a:buFont typeface="IBM Plex Sans"/>
              <a:buNone/>
            </a:pPr>
            <a:r>
              <a:rPr lang="en-US" sz="1600" b="1" i="0" u="none" strike="noStrike" cap="none">
                <a:solidFill>
                  <a:srgbClr val="22201D"/>
                </a:solidFill>
                <a:latin typeface="IBM Plex Sans"/>
                <a:ea typeface="IBM Plex Sans"/>
                <a:cs typeface="IBM Plex Sans"/>
                <a:sym typeface="IBM Plex Sans"/>
              </a:rPr>
              <a:t>Una revisión independiente encontró 4 problemas, todos corregidos con un test</a:t>
            </a:r>
            <a:endParaRPr sz="1600" b="0" i="0" u="none" strike="noStrike" cap="none">
              <a:solidFill>
                <a:schemeClr val="dk1"/>
              </a:solidFill>
              <a:latin typeface="Calibri"/>
              <a:ea typeface="Calibri"/>
              <a:cs typeface="Calibri"/>
              <a:sym typeface="Calibri"/>
            </a:endParaRPr>
          </a:p>
        </p:txBody>
      </p:sp>
      <p:sp>
        <p:nvSpPr>
          <p:cNvPr id="196" name="Google Shape;196;p14"/>
          <p:cNvSpPr/>
          <p:nvPr/>
        </p:nvSpPr>
        <p:spPr>
          <a:xfrm>
            <a:off x="1071880" y="4417064"/>
            <a:ext cx="10349687" cy="4876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E5A54"/>
              </a:buClr>
              <a:buSzPts val="1300"/>
              <a:buFont typeface="IBM Plex Sans"/>
              <a:buNone/>
            </a:pPr>
            <a:r>
              <a:rPr lang="en-US" sz="1300" b="0" i="0" u="none" strike="noStrike" cap="none">
                <a:solidFill>
                  <a:srgbClr val="5E5A54"/>
                </a:solidFill>
                <a:latin typeface="IBM Plex Sans"/>
                <a:ea typeface="IBM Plex Sans"/>
                <a:cs typeface="IBM Plex Sans"/>
                <a:sym typeface="IBM Plex Sans"/>
              </a:rPr>
              <a:t>secretos compartidos por todos los contenedores · un mensaje basura dejaba caído al consumidor · una "bomba de fragmentos" colgaba GraphQL · la auditoría podía trabar las APIs</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C1B19"/>
        </a:solidFill>
        <a:effectLst/>
      </p:bgPr>
    </p:bg>
    <p:spTree>
      <p:nvGrpSpPr>
        <p:cNvPr id="1" name="Shape 201"/>
        <p:cNvGrpSpPr/>
        <p:nvPr/>
      </p:nvGrpSpPr>
      <p:grpSpPr>
        <a:xfrm>
          <a:off x="0" y="0"/>
          <a:ext cx="0" cy="0"/>
          <a:chOff x="0" y="0"/>
          <a:chExt cx="0" cy="0"/>
        </a:xfrm>
      </p:grpSpPr>
      <p:sp>
        <p:nvSpPr>
          <p:cNvPr id="202" name="Google Shape;202;p15"/>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956F"/>
              </a:buClr>
              <a:buSzPts val="1300"/>
              <a:buFont typeface="JetBrains Mono"/>
              <a:buNone/>
            </a:pPr>
            <a:r>
              <a:rPr lang="en-US" sz="1300" b="0" i="0" u="none" strike="noStrike" cap="none">
                <a:solidFill>
                  <a:srgbClr val="E8956F"/>
                </a:solidFill>
                <a:latin typeface="JetBrains Mono"/>
                <a:ea typeface="JetBrains Mono"/>
                <a:cs typeface="JetBrains Mono"/>
                <a:sym typeface="JetBrains Mono"/>
              </a:rPr>
              <a:t>DEMO GRABADA</a:t>
            </a:r>
            <a:endParaRPr sz="1300" b="0" i="0" u="none" strike="noStrike" cap="none">
              <a:solidFill>
                <a:schemeClr val="dk1"/>
              </a:solidFill>
              <a:latin typeface="Calibri"/>
              <a:ea typeface="Calibri"/>
              <a:cs typeface="Calibri"/>
              <a:sym typeface="Calibri"/>
            </a:endParaRPr>
          </a:p>
        </p:txBody>
      </p:sp>
      <p:sp>
        <p:nvSpPr>
          <p:cNvPr id="203" name="Google Shape;203;p15"/>
          <p:cNvSpPr/>
          <p:nvPr/>
        </p:nvSpPr>
        <p:spPr>
          <a:xfrm>
            <a:off x="812800" y="1348742"/>
            <a:ext cx="11379200"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F2EFE8"/>
              </a:buClr>
              <a:buSzPts val="3200"/>
              <a:buFont typeface="IBM Plex Sans"/>
              <a:buNone/>
            </a:pPr>
            <a:r>
              <a:rPr lang="en-US" sz="3200" b="1" i="0" u="none" strike="noStrike" cap="none" dirty="0">
                <a:solidFill>
                  <a:srgbClr val="F2EFE8"/>
                </a:solidFill>
                <a:latin typeface="IBM Plex Sans"/>
                <a:ea typeface="IBM Plex Sans"/>
                <a:cs typeface="IBM Plex Sans"/>
                <a:sym typeface="IBM Plex Sans"/>
              </a:rPr>
              <a:t>El TP de </a:t>
            </a:r>
            <a:r>
              <a:rPr lang="en-US" sz="3200" b="1" i="0" u="none" strike="noStrike" cap="none" dirty="0" err="1">
                <a:solidFill>
                  <a:srgbClr val="F2EFE8"/>
                </a:solidFill>
                <a:latin typeface="IBM Plex Sans"/>
                <a:ea typeface="IBM Plex Sans"/>
                <a:cs typeface="IBM Plex Sans"/>
                <a:sym typeface="IBM Plex Sans"/>
              </a:rPr>
              <a:t>punta</a:t>
            </a:r>
            <a:r>
              <a:rPr lang="en-US" sz="3200" b="1" i="0" u="none" strike="noStrike" cap="none" dirty="0">
                <a:solidFill>
                  <a:srgbClr val="F2EFE8"/>
                </a:solidFill>
                <a:latin typeface="IBM Plex Sans"/>
                <a:ea typeface="IBM Plex Sans"/>
                <a:cs typeface="IBM Plex Sans"/>
                <a:sym typeface="IBM Plex Sans"/>
              </a:rPr>
              <a:t> a </a:t>
            </a:r>
            <a:r>
              <a:rPr lang="en-US" sz="3200" b="1" i="0" u="none" strike="noStrike" cap="none" dirty="0" err="1">
                <a:solidFill>
                  <a:srgbClr val="F2EFE8"/>
                </a:solidFill>
                <a:latin typeface="IBM Plex Sans"/>
                <a:ea typeface="IBM Plex Sans"/>
                <a:cs typeface="IBM Plex Sans"/>
                <a:sym typeface="IBM Plex Sans"/>
              </a:rPr>
              <a:t>punta</a:t>
            </a:r>
            <a:r>
              <a:rPr lang="en-US" sz="3200" b="1" i="0" u="none" strike="noStrike" cap="none" dirty="0">
                <a:solidFill>
                  <a:srgbClr val="F2EFE8"/>
                </a:solidFill>
                <a:latin typeface="IBM Plex Sans"/>
                <a:ea typeface="IBM Plex Sans"/>
                <a:cs typeface="IBM Plex Sans"/>
                <a:sym typeface="IBM Plex Sans"/>
              </a:rPr>
              <a:t>, </a:t>
            </a:r>
            <a:r>
              <a:rPr lang="en-US" sz="3200" b="1" i="0" u="none" strike="noStrike" cap="none" dirty="0" err="1">
                <a:solidFill>
                  <a:srgbClr val="F2EFE8"/>
                </a:solidFill>
                <a:latin typeface="IBM Plex Sans"/>
                <a:ea typeface="IBM Plex Sans"/>
                <a:cs typeface="IBM Plex Sans"/>
                <a:sym typeface="IBM Plex Sans"/>
              </a:rPr>
              <a:t>integrando</a:t>
            </a:r>
            <a:r>
              <a:rPr lang="en-US" sz="3200" b="1" i="0" u="none" strike="noStrike" cap="none" dirty="0">
                <a:solidFill>
                  <a:srgbClr val="F2EFE8"/>
                </a:solidFill>
                <a:latin typeface="IBM Plex Sans"/>
                <a:ea typeface="IBM Plex Sans"/>
                <a:cs typeface="IBM Plex Sans"/>
                <a:sym typeface="IBM Plex Sans"/>
              </a:rPr>
              <a:t> </a:t>
            </a:r>
            <a:r>
              <a:rPr lang="en-US" sz="3200" b="1" i="0" u="none" strike="noStrike" cap="none" dirty="0" err="1">
                <a:solidFill>
                  <a:srgbClr val="F2EFE8"/>
                </a:solidFill>
                <a:latin typeface="IBM Plex Sans"/>
                <a:ea typeface="IBM Plex Sans"/>
                <a:cs typeface="IBM Plex Sans"/>
                <a:sym typeface="IBM Plex Sans"/>
              </a:rPr>
              <a:t>todo</a:t>
            </a:r>
            <a:r>
              <a:rPr lang="en-US" sz="3200" b="1" i="0" u="none" strike="noStrike" cap="none" dirty="0">
                <a:solidFill>
                  <a:srgbClr val="F2EFE8"/>
                </a:solidFill>
                <a:latin typeface="IBM Plex Sans"/>
                <a:ea typeface="IBM Plex Sans"/>
                <a:cs typeface="IBM Plex Sans"/>
                <a:sym typeface="IBM Plex Sans"/>
              </a:rPr>
              <a:t> lo </a:t>
            </a:r>
            <a:r>
              <a:rPr lang="en-US" sz="3200" b="1" i="0" u="none" strike="noStrike" cap="none" dirty="0" err="1">
                <a:solidFill>
                  <a:srgbClr val="F2EFE8"/>
                </a:solidFill>
                <a:latin typeface="IBM Plex Sans"/>
                <a:ea typeface="IBM Plex Sans"/>
                <a:cs typeface="IBM Plex Sans"/>
                <a:sym typeface="IBM Plex Sans"/>
              </a:rPr>
              <a:t>aprendido</a:t>
            </a:r>
            <a:endParaRPr sz="3200" b="0" i="0" u="none" strike="noStrike" cap="none" dirty="0">
              <a:solidFill>
                <a:schemeClr val="dk1"/>
              </a:solidFill>
              <a:latin typeface="Calibri"/>
              <a:ea typeface="Calibri"/>
              <a:cs typeface="Calibri"/>
              <a:sym typeface="Calibri"/>
            </a:endParaRPr>
          </a:p>
        </p:txBody>
      </p:sp>
      <p:sp>
        <p:nvSpPr>
          <p:cNvPr id="204" name="Google Shape;204;p15"/>
          <p:cNvSpPr/>
          <p:nvPr/>
        </p:nvSpPr>
        <p:spPr>
          <a:xfrm>
            <a:off x="8229600" y="2176272"/>
            <a:ext cx="4318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956F"/>
              </a:buClr>
              <a:buSzPts val="2000"/>
              <a:buFont typeface="IBM Plex Sans"/>
              <a:buNone/>
            </a:pPr>
            <a:r>
              <a:rPr lang="en-US" sz="2000" b="1" i="0" u="none" strike="noStrike" cap="none">
                <a:solidFill>
                  <a:srgbClr val="E8956F"/>
                </a:solidFill>
                <a:latin typeface="IBM Plex Sans"/>
                <a:ea typeface="IBM Plex Sans"/>
                <a:cs typeface="IBM Plex Sans"/>
                <a:sym typeface="IBM Plex Sans"/>
              </a:rPr>
              <a:t>1</a:t>
            </a:r>
            <a:endParaRPr sz="2000" b="0" i="0" u="none" strike="noStrike" cap="none">
              <a:solidFill>
                <a:schemeClr val="dk1"/>
              </a:solidFill>
              <a:latin typeface="Calibri"/>
              <a:ea typeface="Calibri"/>
              <a:cs typeface="Calibri"/>
              <a:sym typeface="Calibri"/>
            </a:endParaRPr>
          </a:p>
        </p:txBody>
      </p:sp>
      <p:sp>
        <p:nvSpPr>
          <p:cNvPr id="205" name="Google Shape;205;p15"/>
          <p:cNvSpPr/>
          <p:nvPr/>
        </p:nvSpPr>
        <p:spPr>
          <a:xfrm>
            <a:off x="8686800" y="2103120"/>
            <a:ext cx="2688336" cy="566928"/>
          </a:xfrm>
          <a:prstGeom prst="roundRect">
            <a:avLst>
              <a:gd name="adj" fmla="val 12626"/>
            </a:avLst>
          </a:prstGeom>
          <a:solidFill>
            <a:srgbClr val="2A2825"/>
          </a:solidFill>
          <a:ln>
            <a:noFill/>
          </a:ln>
        </p:spPr>
        <p:txBody>
          <a:bodyPr spcFirstLastPara="1" wrap="square" lIns="159200" tIns="72000" rIns="0" bIns="36000" anchor="t" anchorCtr="0">
            <a:noAutofit/>
          </a:bodyPr>
          <a:lstStyle/>
          <a:p>
            <a:pPr marL="0" marR="0" lvl="0" indent="0" algn="l" rtl="0">
              <a:lnSpc>
                <a:spcPct val="100000"/>
              </a:lnSpc>
              <a:spcBef>
                <a:spcPts val="0"/>
              </a:spcBef>
              <a:spcAft>
                <a:spcPts val="0"/>
              </a:spcAft>
              <a:buClr>
                <a:srgbClr val="F2EFE8"/>
              </a:buClr>
              <a:buSzPts val="1400"/>
              <a:buFont typeface="JetBrains Mono"/>
              <a:buNone/>
            </a:pPr>
            <a:r>
              <a:rPr lang="en-US" sz="1400" b="0" i="0" u="none" strike="noStrike" cap="none">
                <a:solidFill>
                  <a:srgbClr val="F2EFE8"/>
                </a:solidFill>
                <a:latin typeface="JetBrains Mono"/>
                <a:ea typeface="JetBrains Mono"/>
                <a:cs typeface="JetBrains Mono"/>
                <a:sym typeface="JetBrains Mono"/>
              </a:rPr>
              <a:t>Capas de acceso</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F2EFE8"/>
              </a:buClr>
              <a:buSzPts val="1400"/>
              <a:buFont typeface="JetBrains Mono"/>
              <a:buNone/>
            </a:pPr>
            <a:r>
              <a:rPr lang="en-US" sz="1100" b="0" i="0" u="none" strike="noStrike" cap="none">
                <a:solidFill>
                  <a:srgbClr val="C9C3B8"/>
                </a:solidFill>
                <a:latin typeface="JetBrains Mono"/>
                <a:ea typeface="JetBrains Mono"/>
                <a:cs typeface="JetBrains Mono"/>
                <a:sym typeface="JetBrains Mono"/>
              </a:rPr>
              <a:t>clases 1 a 4</a:t>
            </a:r>
            <a:endParaRPr sz="1400" b="0" i="0" u="none" strike="noStrike" cap="none">
              <a:solidFill>
                <a:schemeClr val="dk1"/>
              </a:solidFill>
              <a:latin typeface="Calibri"/>
              <a:ea typeface="Calibri"/>
              <a:cs typeface="Calibri"/>
              <a:sym typeface="Calibri"/>
            </a:endParaRPr>
          </a:p>
        </p:txBody>
      </p:sp>
      <p:sp>
        <p:nvSpPr>
          <p:cNvPr id="206" name="Google Shape;206;p15"/>
          <p:cNvSpPr/>
          <p:nvPr/>
        </p:nvSpPr>
        <p:spPr>
          <a:xfrm>
            <a:off x="8229600" y="2889504"/>
            <a:ext cx="4318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956F"/>
              </a:buClr>
              <a:buSzPts val="2000"/>
              <a:buFont typeface="IBM Plex Sans"/>
              <a:buNone/>
            </a:pPr>
            <a:r>
              <a:rPr lang="en-US" sz="2000" b="1" i="0" u="none" strike="noStrike" cap="none">
                <a:solidFill>
                  <a:srgbClr val="E8956F"/>
                </a:solidFill>
                <a:latin typeface="IBM Plex Sans"/>
                <a:ea typeface="IBM Plex Sans"/>
                <a:cs typeface="IBM Plex Sans"/>
                <a:sym typeface="IBM Plex Sans"/>
              </a:rPr>
              <a:t>2</a:t>
            </a:r>
            <a:endParaRPr sz="2000" b="0" i="0" u="none" strike="noStrike" cap="none">
              <a:solidFill>
                <a:schemeClr val="dk1"/>
              </a:solidFill>
              <a:latin typeface="Calibri"/>
              <a:ea typeface="Calibri"/>
              <a:cs typeface="Calibri"/>
              <a:sym typeface="Calibri"/>
            </a:endParaRPr>
          </a:p>
        </p:txBody>
      </p:sp>
      <p:sp>
        <p:nvSpPr>
          <p:cNvPr id="207" name="Google Shape;207;p15"/>
          <p:cNvSpPr/>
          <p:nvPr/>
        </p:nvSpPr>
        <p:spPr>
          <a:xfrm>
            <a:off x="8686800" y="2816352"/>
            <a:ext cx="2688336" cy="566928"/>
          </a:xfrm>
          <a:prstGeom prst="roundRect">
            <a:avLst>
              <a:gd name="adj" fmla="val 12626"/>
            </a:avLst>
          </a:prstGeom>
          <a:solidFill>
            <a:srgbClr val="2A2825"/>
          </a:solidFill>
          <a:ln>
            <a:noFill/>
          </a:ln>
        </p:spPr>
        <p:txBody>
          <a:bodyPr spcFirstLastPara="1" wrap="square" lIns="159200" tIns="72000" rIns="0" bIns="36000" anchor="t" anchorCtr="0">
            <a:noAutofit/>
          </a:bodyPr>
          <a:lstStyle/>
          <a:p>
            <a:pPr marL="0" marR="0" lvl="0" indent="0" algn="l" rtl="0">
              <a:lnSpc>
                <a:spcPct val="100000"/>
              </a:lnSpc>
              <a:spcBef>
                <a:spcPts val="0"/>
              </a:spcBef>
              <a:spcAft>
                <a:spcPts val="0"/>
              </a:spcAft>
              <a:buClr>
                <a:srgbClr val="F2EFE8"/>
              </a:buClr>
              <a:buSzPts val="1400"/>
              <a:buFont typeface="JetBrains Mono"/>
              <a:buNone/>
            </a:pPr>
            <a:r>
              <a:rPr lang="en-US" sz="1400" b="0" i="0" u="none" strike="noStrike" cap="none">
                <a:solidFill>
                  <a:srgbClr val="F2EFE8"/>
                </a:solidFill>
                <a:latin typeface="JetBrains Mono"/>
                <a:ea typeface="JetBrains Mono"/>
                <a:cs typeface="JetBrains Mono"/>
                <a:sym typeface="JetBrains Mono"/>
              </a:rPr>
              <a:t>Aprendizaje federado</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F2EFE8"/>
              </a:buClr>
              <a:buSzPts val="1400"/>
              <a:buFont typeface="JetBrains Mono"/>
              <a:buNone/>
            </a:pPr>
            <a:r>
              <a:rPr lang="en-US" sz="1100" b="0" i="0" u="none" strike="noStrike" cap="none">
                <a:solidFill>
                  <a:srgbClr val="C9C3B8"/>
                </a:solidFill>
                <a:latin typeface="JetBrains Mono"/>
                <a:ea typeface="JetBrains Mono"/>
                <a:cs typeface="JetBrains Mono"/>
                <a:sym typeface="JetBrains Mono"/>
              </a:rPr>
              <a:t>clase 5</a:t>
            </a:r>
            <a:endParaRPr sz="1400" b="0" i="0" u="none" strike="noStrike" cap="none">
              <a:solidFill>
                <a:schemeClr val="dk1"/>
              </a:solidFill>
              <a:latin typeface="Calibri"/>
              <a:ea typeface="Calibri"/>
              <a:cs typeface="Calibri"/>
              <a:sym typeface="Calibri"/>
            </a:endParaRPr>
          </a:p>
        </p:txBody>
      </p:sp>
      <p:sp>
        <p:nvSpPr>
          <p:cNvPr id="208" name="Google Shape;208;p15"/>
          <p:cNvSpPr/>
          <p:nvPr/>
        </p:nvSpPr>
        <p:spPr>
          <a:xfrm>
            <a:off x="8229600" y="3602736"/>
            <a:ext cx="4318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956F"/>
              </a:buClr>
              <a:buSzPts val="2000"/>
              <a:buFont typeface="IBM Plex Sans"/>
              <a:buNone/>
            </a:pPr>
            <a:r>
              <a:rPr lang="en-US" sz="2000" b="1" i="0" u="none" strike="noStrike" cap="none">
                <a:solidFill>
                  <a:srgbClr val="E8956F"/>
                </a:solidFill>
                <a:latin typeface="IBM Plex Sans"/>
                <a:ea typeface="IBM Plex Sans"/>
                <a:cs typeface="IBM Plex Sans"/>
                <a:sym typeface="IBM Plex Sans"/>
              </a:rPr>
              <a:t>3</a:t>
            </a:r>
            <a:endParaRPr sz="2000" b="0" i="0" u="none" strike="noStrike" cap="none">
              <a:solidFill>
                <a:schemeClr val="dk1"/>
              </a:solidFill>
              <a:latin typeface="Calibri"/>
              <a:ea typeface="Calibri"/>
              <a:cs typeface="Calibri"/>
              <a:sym typeface="Calibri"/>
            </a:endParaRPr>
          </a:p>
        </p:txBody>
      </p:sp>
      <p:sp>
        <p:nvSpPr>
          <p:cNvPr id="209" name="Google Shape;209;p15"/>
          <p:cNvSpPr/>
          <p:nvPr/>
        </p:nvSpPr>
        <p:spPr>
          <a:xfrm>
            <a:off x="8686800" y="3529584"/>
            <a:ext cx="2688336" cy="566928"/>
          </a:xfrm>
          <a:prstGeom prst="roundRect">
            <a:avLst>
              <a:gd name="adj" fmla="val 12626"/>
            </a:avLst>
          </a:prstGeom>
          <a:solidFill>
            <a:srgbClr val="2A2825"/>
          </a:solidFill>
          <a:ln>
            <a:noFill/>
          </a:ln>
        </p:spPr>
        <p:txBody>
          <a:bodyPr spcFirstLastPara="1" wrap="square" lIns="159200" tIns="72000" rIns="0" bIns="36000" anchor="t" anchorCtr="0">
            <a:noAutofit/>
          </a:bodyPr>
          <a:lstStyle/>
          <a:p>
            <a:pPr marL="0" marR="0" lvl="0" indent="0" algn="l" rtl="0">
              <a:lnSpc>
                <a:spcPct val="100000"/>
              </a:lnSpc>
              <a:spcBef>
                <a:spcPts val="0"/>
              </a:spcBef>
              <a:spcAft>
                <a:spcPts val="0"/>
              </a:spcAft>
              <a:buClr>
                <a:srgbClr val="F2EFE8"/>
              </a:buClr>
              <a:buSzPts val="1400"/>
              <a:buFont typeface="JetBrains Mono"/>
              <a:buNone/>
            </a:pPr>
            <a:r>
              <a:rPr lang="en-US" sz="1400" b="0" i="0" u="none" strike="noStrike" cap="none">
                <a:solidFill>
                  <a:srgbClr val="F2EFE8"/>
                </a:solidFill>
                <a:latin typeface="JetBrains Mono"/>
                <a:ea typeface="JetBrains Mono"/>
                <a:cs typeface="JetBrains Mono"/>
                <a:sym typeface="JetBrains Mono"/>
              </a:rPr>
              <a:t>Data Lake</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F2EFE8"/>
              </a:buClr>
              <a:buSzPts val="1400"/>
              <a:buFont typeface="JetBrains Mono"/>
              <a:buNone/>
            </a:pPr>
            <a:r>
              <a:rPr lang="en-US" sz="1100" b="0" i="0" u="none" strike="noStrike" cap="none">
                <a:solidFill>
                  <a:srgbClr val="C9C3B8"/>
                </a:solidFill>
                <a:latin typeface="JetBrains Mono"/>
                <a:ea typeface="JetBrains Mono"/>
                <a:cs typeface="JetBrains Mono"/>
                <a:sym typeface="JetBrains Mono"/>
              </a:rPr>
              <a:t>clase 6</a:t>
            </a:r>
            <a:endParaRPr sz="1400" b="0" i="0" u="none" strike="noStrike" cap="none">
              <a:solidFill>
                <a:schemeClr val="dk1"/>
              </a:solidFill>
              <a:latin typeface="Calibri"/>
              <a:ea typeface="Calibri"/>
              <a:cs typeface="Calibri"/>
              <a:sym typeface="Calibri"/>
            </a:endParaRPr>
          </a:p>
        </p:txBody>
      </p:sp>
      <p:sp>
        <p:nvSpPr>
          <p:cNvPr id="301" name="Google Shape;211;p15"/>
          <p:cNvSpPr/>
          <p:nvPr/>
        </p:nvSpPr>
        <p:spPr>
          <a:xfrm>
            <a:off x="8229600" y="4315968"/>
            <a:ext cx="431800" cy="381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956F"/>
              </a:buClr>
              <a:buSzPts val="2000"/>
              <a:buFont typeface="IBM Plex Sans"/>
              <a:buNone/>
            </a:pPr>
            <a:r>
              <a:rPr lang="en-US" sz="2000" b="1" i="0" u="none" strike="noStrike" cap="none">
                <a:solidFill>
                  <a:srgbClr val="E8956F"/>
                </a:solidFill>
                <a:latin typeface="IBM Plex Sans"/>
                <a:ea typeface="IBM Plex Sans"/>
                <a:cs typeface="IBM Plex Sans"/>
                <a:sym typeface="IBM Plex Sans"/>
              </a:rPr>
              <a:t>4</a:t>
            </a:r>
            <a:endParaRPr sz="2000" b="0" i="0" u="none" strike="noStrike" cap="none">
              <a:solidFill>
                <a:schemeClr val="dk1"/>
              </a:solidFill>
              <a:latin typeface="Calibri"/>
              <a:ea typeface="Calibri"/>
              <a:cs typeface="Calibri"/>
              <a:sym typeface="Calibri"/>
            </a:endParaRPr>
          </a:p>
        </p:txBody>
      </p:sp>
      <p:sp>
        <p:nvSpPr>
          <p:cNvPr id="302" name="Google Shape;212;p15"/>
          <p:cNvSpPr/>
          <p:nvPr/>
        </p:nvSpPr>
        <p:spPr>
          <a:xfrm>
            <a:off x="8686800" y="4242816"/>
            <a:ext cx="2688336" cy="566928"/>
          </a:xfrm>
          <a:prstGeom prst="roundRect">
            <a:avLst>
              <a:gd name="adj" fmla="val 12626"/>
            </a:avLst>
          </a:prstGeom>
          <a:solidFill>
            <a:srgbClr val="2A2825"/>
          </a:solidFill>
          <a:ln>
            <a:noFill/>
          </a:ln>
        </p:spPr>
        <p:txBody>
          <a:bodyPr spcFirstLastPara="1" wrap="square" lIns="159200" tIns="72000" rIns="0" bIns="36000" anchor="t" anchorCtr="0">
            <a:noAutofit/>
          </a:bodyPr>
          <a:lstStyle/>
          <a:p>
            <a:pPr marL="0" marR="0" lvl="0" indent="0" algn="l" rtl="0">
              <a:lnSpc>
                <a:spcPct val="100000"/>
              </a:lnSpc>
              <a:spcBef>
                <a:spcPts val="0"/>
              </a:spcBef>
              <a:spcAft>
                <a:spcPts val="0"/>
              </a:spcAft>
              <a:buClr>
                <a:srgbClr val="F2EFE8"/>
              </a:buClr>
              <a:buSzPts val="1400"/>
              <a:buFont typeface="JetBrains Mono"/>
              <a:buNone/>
            </a:pPr>
            <a:r>
              <a:rPr lang="en-US" sz="1400" b="0" i="0" u="none" strike="noStrike" cap="none">
                <a:solidFill>
                  <a:srgbClr val="F2EFE8"/>
                </a:solidFill>
                <a:latin typeface="JetBrains Mono"/>
                <a:ea typeface="JetBrains Mono"/>
                <a:cs typeface="JetBrains Mono"/>
                <a:sym typeface="JetBrains Mono"/>
              </a:rPr>
              <a:t>Seguridad (SAIF)</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F2EFE8"/>
              </a:buClr>
              <a:buSzPts val="1400"/>
              <a:buFont typeface="JetBrains Mono"/>
              <a:buNone/>
            </a:pPr>
            <a:r>
              <a:rPr lang="en-US" sz="1100" b="0" i="0" u="none" strike="noStrike" cap="none">
                <a:solidFill>
                  <a:srgbClr val="C9C3B8"/>
                </a:solidFill>
                <a:latin typeface="JetBrains Mono"/>
                <a:ea typeface="JetBrains Mono"/>
                <a:cs typeface="JetBrains Mono"/>
                <a:sym typeface="JetBrains Mono"/>
              </a:rPr>
              <a:t>clase 7</a:t>
            </a:r>
            <a:endParaRPr sz="1400" b="0" i="0" u="none" strike="noStrike" cap="none">
              <a:solidFill>
                <a:schemeClr val="dk1"/>
              </a:solidFill>
              <a:latin typeface="Calibri"/>
              <a:ea typeface="Calibri"/>
              <a:cs typeface="Calibri"/>
              <a:sym typeface="Calibri"/>
            </a:endParaRPr>
          </a:p>
        </p:txBody>
      </p:sp>
      <p:sp>
        <p:nvSpPr>
          <p:cNvPr id="210" name="Google Shape;210;p15"/>
          <p:cNvSpPr/>
          <p:nvPr/>
        </p:nvSpPr>
        <p:spPr>
          <a:xfrm>
            <a:off x="8229600" y="5047487"/>
            <a:ext cx="3276600" cy="1234779"/>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C9C3B8"/>
              </a:buClr>
              <a:buSzPts val="1400"/>
              <a:buFont typeface="IBM Plex Sans"/>
              <a:buNone/>
            </a:pPr>
            <a:r>
              <a:rPr lang="en-US" sz="1400" b="0" i="0" u="none" strike="noStrike" cap="none" dirty="0">
                <a:solidFill>
                  <a:schemeClr val="accent2">
                    <a:lumMod val="60000"/>
                    <a:lumOff val="40000"/>
                  </a:schemeClr>
                </a:solidFill>
                <a:latin typeface="IBM Plex Sans"/>
                <a:ea typeface="IBM Plex Sans"/>
                <a:cs typeface="IBM Plex Sans"/>
                <a:sym typeface="IBM Plex Sans"/>
              </a:rPr>
              <a:t>Video demo: 7:48, con audio.</a:t>
            </a:r>
          </a:p>
          <a:p>
            <a:pPr marL="0" marR="0" lvl="0" indent="0" algn="l" rtl="0">
              <a:lnSpc>
                <a:spcPct val="140000"/>
              </a:lnSpc>
              <a:spcBef>
                <a:spcPts val="0"/>
              </a:spcBef>
              <a:spcAft>
                <a:spcPts val="0"/>
              </a:spcAft>
              <a:buClr>
                <a:srgbClr val="C9C3B8"/>
              </a:buClr>
              <a:buSzPts val="1400"/>
              <a:buFont typeface="IBM Plex Sans"/>
              <a:buNone/>
            </a:pPr>
            <a:endParaRPr lang="en-US" sz="1400" b="0" i="0" u="none" strike="noStrike" cap="none" dirty="0">
              <a:solidFill>
                <a:srgbClr val="C9C3B8"/>
              </a:solidFill>
              <a:latin typeface="IBM Plex Sans"/>
              <a:ea typeface="IBM Plex Sans"/>
              <a:cs typeface="IBM Plex Sans"/>
              <a:sym typeface="IBM Plex Sans"/>
            </a:endParaRPr>
          </a:p>
          <a:p>
            <a:pPr marL="0" marR="0" lvl="0" indent="0" algn="l" rtl="0">
              <a:lnSpc>
                <a:spcPct val="140000"/>
              </a:lnSpc>
              <a:spcBef>
                <a:spcPts val="0"/>
              </a:spcBef>
              <a:spcAft>
                <a:spcPts val="0"/>
              </a:spcAft>
              <a:buClr>
                <a:srgbClr val="C9C3B8"/>
              </a:buClr>
              <a:buSzPts val="1400"/>
              <a:buFont typeface="IBM Plex Sans"/>
              <a:buNone/>
            </a:pPr>
            <a:r>
              <a:rPr lang="en-US" sz="1400" b="0" i="0" u="none" strike="noStrike" cap="none" dirty="0">
                <a:solidFill>
                  <a:srgbClr val="C9C3B8"/>
                </a:solidFill>
                <a:latin typeface="IBM Plex Sans"/>
                <a:ea typeface="IBM Plex Sans"/>
                <a:cs typeface="IBM Plex Sans"/>
                <a:sym typeface="IBM Plex Sans"/>
              </a:rPr>
              <a:t>Se </a:t>
            </a:r>
            <a:r>
              <a:rPr lang="en-US" sz="1400" b="0" i="0" u="none" strike="noStrike" cap="none" dirty="0" err="1">
                <a:solidFill>
                  <a:srgbClr val="C9C3B8"/>
                </a:solidFill>
                <a:latin typeface="IBM Plex Sans"/>
                <a:ea typeface="IBM Plex Sans"/>
                <a:cs typeface="IBM Plex Sans"/>
                <a:sym typeface="IBM Plex Sans"/>
              </a:rPr>
              <a:t>encuentra</a:t>
            </a:r>
            <a:r>
              <a:rPr lang="en-US" sz="1400" b="0" i="0" u="none" strike="noStrike" cap="none" dirty="0">
                <a:solidFill>
                  <a:srgbClr val="C9C3B8"/>
                </a:solidFill>
                <a:latin typeface="IBM Plex Sans"/>
                <a:ea typeface="IBM Plex Sans"/>
                <a:cs typeface="IBM Plex Sans"/>
                <a:sym typeface="IBM Plex Sans"/>
              </a:rPr>
              <a:t> </a:t>
            </a:r>
            <a:r>
              <a:rPr lang="en-US" sz="1400" b="0" i="0" u="none" strike="noStrike" cap="none" dirty="0" err="1">
                <a:solidFill>
                  <a:srgbClr val="C9C3B8"/>
                </a:solidFill>
                <a:latin typeface="IBM Plex Sans"/>
                <a:ea typeface="IBM Plex Sans"/>
                <a:cs typeface="IBM Plex Sans"/>
                <a:sym typeface="IBM Plex Sans"/>
              </a:rPr>
              <a:t>en</a:t>
            </a:r>
            <a:r>
              <a:rPr lang="en-US" sz="1400" b="0" i="0" u="none" strike="noStrike" cap="none" dirty="0">
                <a:solidFill>
                  <a:srgbClr val="C9C3B8"/>
                </a:solidFill>
                <a:latin typeface="IBM Plex Sans"/>
                <a:ea typeface="IBM Plex Sans"/>
                <a:cs typeface="IBM Plex Sans"/>
                <a:sym typeface="IBM Plex Sans"/>
              </a:rPr>
              <a:t> </a:t>
            </a:r>
            <a:r>
              <a:rPr lang="en-US" sz="1400" b="0" i="0" u="none" strike="noStrike" cap="none" dirty="0" err="1">
                <a:solidFill>
                  <a:srgbClr val="C9C3B8"/>
                </a:solidFill>
                <a:latin typeface="IBM Plex Sans"/>
                <a:ea typeface="IBM Plex Sans"/>
                <a:cs typeface="IBM Plex Sans"/>
                <a:sym typeface="IBM Plex Sans"/>
              </a:rPr>
              <a:t>el</a:t>
            </a:r>
            <a:r>
              <a:rPr lang="en-US" sz="1400" b="0" i="0" u="none" strike="noStrike" cap="none" dirty="0">
                <a:solidFill>
                  <a:srgbClr val="C9C3B8"/>
                </a:solidFill>
                <a:latin typeface="IBM Plex Sans"/>
                <a:ea typeface="IBM Plex Sans"/>
                <a:cs typeface="IBM Plex Sans"/>
                <a:sym typeface="IBM Plex Sans"/>
              </a:rPr>
              <a:t> repo </a:t>
            </a:r>
            <a:r>
              <a:rPr lang="en-US" sz="1400" b="0" i="0" u="none" strike="noStrike" cap="none" dirty="0" err="1">
                <a:solidFill>
                  <a:srgbClr val="C9C3B8"/>
                </a:solidFill>
                <a:latin typeface="IBM Plex Sans"/>
                <a:ea typeface="IBM Plex Sans"/>
                <a:cs typeface="IBM Plex Sans"/>
                <a:sym typeface="IBM Plex Sans"/>
              </a:rPr>
              <a:t>en</a:t>
            </a:r>
            <a:r>
              <a:rPr lang="en-US" sz="1400" b="0" i="0" u="none" strike="noStrike" cap="none" dirty="0">
                <a:solidFill>
                  <a:srgbClr val="C9C3B8"/>
                </a:solidFill>
                <a:latin typeface="IBM Plex Sans"/>
                <a:ea typeface="IBM Plex Sans"/>
                <a:cs typeface="IBM Plex Sans"/>
                <a:sym typeface="IBM Plex Sans"/>
              </a:rPr>
              <a:t> </a:t>
            </a:r>
          </a:p>
          <a:p>
            <a:pPr marL="0" marR="0" lvl="0" indent="0" algn="l" rtl="0">
              <a:lnSpc>
                <a:spcPct val="140000"/>
              </a:lnSpc>
              <a:spcBef>
                <a:spcPts val="0"/>
              </a:spcBef>
              <a:spcAft>
                <a:spcPts val="0"/>
              </a:spcAft>
              <a:buClr>
                <a:srgbClr val="C9C3B8"/>
              </a:buClr>
              <a:buSzPts val="1400"/>
              <a:buFont typeface="IBM Plex Sans"/>
              <a:buNone/>
            </a:pPr>
            <a:r>
              <a:rPr lang="en-US" sz="1400" b="0" i="0" u="none" strike="noStrike" cap="none" dirty="0" err="1">
                <a:solidFill>
                  <a:srgbClr val="C9C3B8"/>
                </a:solidFill>
                <a:latin typeface="IBM Plex Sans"/>
                <a:ea typeface="IBM Plex Sans"/>
                <a:cs typeface="IBM Plex Sans"/>
                <a:sym typeface="IBM Plex Sans"/>
              </a:rPr>
              <a:t>presentacion</a:t>
            </a:r>
            <a:r>
              <a:rPr lang="en-US" sz="1400" b="0" i="0" u="none" strike="noStrike" cap="none" dirty="0">
                <a:solidFill>
                  <a:srgbClr val="C9C3B8"/>
                </a:solidFill>
                <a:latin typeface="IBM Plex Sans"/>
                <a:ea typeface="IBM Plex Sans"/>
                <a:cs typeface="IBM Plex Sans"/>
                <a:sym typeface="IBM Plex Sans"/>
              </a:rPr>
              <a:t>/demo/demo_editado.mp4</a:t>
            </a:r>
            <a:endParaRPr sz="1400" b="0" i="0" u="none" strike="noStrike" cap="none" dirty="0">
              <a:solidFill>
                <a:schemeClr val="dk1"/>
              </a:solidFill>
              <a:latin typeface="Calibri"/>
              <a:ea typeface="Calibri"/>
              <a:cs typeface="Calibri"/>
              <a:sym typeface="Calibri"/>
            </a:endParaRPr>
          </a:p>
        </p:txBody>
      </p:sp>
      <p:pic>
        <p:nvPicPr>
          <p:cNvPr id="211" name="demo_editado.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13816" y="2103120"/>
            <a:ext cx="7086600" cy="3986212"/>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11"/>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215"/>
        <p:cNvGrpSpPr/>
        <p:nvPr/>
      </p:nvGrpSpPr>
      <p:grpSpPr>
        <a:xfrm>
          <a:off x="0" y="0"/>
          <a:ext cx="0" cy="0"/>
          <a:chOff x="0" y="0"/>
          <a:chExt cx="0" cy="0"/>
        </a:xfrm>
      </p:grpSpPr>
      <p:sp>
        <p:nvSpPr>
          <p:cNvPr id="216" name="Google Shape;216;p16"/>
          <p:cNvSpPr/>
          <p:nvPr/>
        </p:nvSpPr>
        <p:spPr>
          <a:xfrm>
            <a:off x="812800" y="812800"/>
            <a:ext cx="10883392"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5502E"/>
              </a:buClr>
              <a:buSzPts val="1300"/>
              <a:buFont typeface="JetBrains Mono"/>
              <a:buNone/>
            </a:pPr>
            <a:r>
              <a:rPr lang="en-US" sz="1300" b="0" i="0" u="none" strike="noStrike" cap="none">
                <a:solidFill>
                  <a:srgbClr val="B5502E"/>
                </a:solidFill>
                <a:latin typeface="JetBrains Mono"/>
                <a:ea typeface="JetBrains Mono"/>
                <a:cs typeface="JetBrains Mono"/>
                <a:sym typeface="JetBrains Mono"/>
              </a:rPr>
              <a:t>BALANCE</a:t>
            </a:r>
            <a:endParaRPr sz="1300" b="0" i="0" u="none" strike="noStrike" cap="none">
              <a:solidFill>
                <a:schemeClr val="dk1"/>
              </a:solidFill>
              <a:latin typeface="Calibri"/>
              <a:ea typeface="Calibri"/>
              <a:cs typeface="Calibri"/>
              <a:sym typeface="Calibri"/>
            </a:endParaRPr>
          </a:p>
        </p:txBody>
      </p:sp>
      <p:sp>
        <p:nvSpPr>
          <p:cNvPr id="217" name="Google Shape;217;p16"/>
          <p:cNvSpPr/>
          <p:nvPr/>
        </p:nvSpPr>
        <p:spPr>
          <a:xfrm>
            <a:off x="812800" y="1348742"/>
            <a:ext cx="10883392" cy="4927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22201D"/>
              </a:buClr>
              <a:buSzPts val="3200"/>
              <a:buFont typeface="IBM Plex Sans"/>
              <a:buNone/>
            </a:pPr>
            <a:r>
              <a:rPr lang="en-US" sz="3200" b="1" i="0" u="none" strike="noStrike" cap="none" dirty="0" err="1">
                <a:solidFill>
                  <a:srgbClr val="22201D"/>
                </a:solidFill>
                <a:latin typeface="IBM Plex Sans"/>
                <a:ea typeface="IBM Plex Sans"/>
                <a:cs typeface="IBM Plex Sans"/>
                <a:sym typeface="IBM Plex Sans"/>
              </a:rPr>
              <a:t>Qué</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volvería</a:t>
            </a:r>
            <a:r>
              <a:rPr lang="en-US" sz="3200" b="1" i="0" u="none" strike="noStrike" cap="none" dirty="0">
                <a:solidFill>
                  <a:srgbClr val="22201D"/>
                </a:solidFill>
                <a:latin typeface="IBM Plex Sans"/>
                <a:ea typeface="IBM Plex Sans"/>
                <a:cs typeface="IBM Plex Sans"/>
                <a:sym typeface="IBM Plex Sans"/>
              </a:rPr>
              <a:t> a </a:t>
            </a:r>
            <a:r>
              <a:rPr lang="en-US" sz="3200" b="1" i="0" u="none" strike="noStrike" cap="none" dirty="0" err="1">
                <a:solidFill>
                  <a:srgbClr val="22201D"/>
                </a:solidFill>
                <a:latin typeface="IBM Plex Sans"/>
                <a:ea typeface="IBM Plex Sans"/>
                <a:cs typeface="IBM Plex Sans"/>
                <a:sym typeface="IBM Plex Sans"/>
              </a:rPr>
              <a:t>hacer</a:t>
            </a:r>
            <a:r>
              <a:rPr lang="en-US" sz="3200" b="1" i="0" u="none" strike="noStrike" cap="none" dirty="0">
                <a:solidFill>
                  <a:srgbClr val="22201D"/>
                </a:solidFill>
                <a:latin typeface="IBM Plex Sans"/>
                <a:ea typeface="IBM Plex Sans"/>
                <a:cs typeface="IBM Plex Sans"/>
                <a:sym typeface="IBM Plex Sans"/>
              </a:rPr>
              <a:t> y </a:t>
            </a:r>
            <a:r>
              <a:rPr lang="en-US" sz="3200" b="1" i="0" u="none" strike="noStrike" cap="none" dirty="0" err="1">
                <a:solidFill>
                  <a:srgbClr val="22201D"/>
                </a:solidFill>
                <a:latin typeface="IBM Plex Sans"/>
                <a:ea typeface="IBM Plex Sans"/>
                <a:cs typeface="IBM Plex Sans"/>
                <a:sym typeface="IBM Plex Sans"/>
              </a:rPr>
              <a:t>qué</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queda</a:t>
            </a:r>
            <a:r>
              <a:rPr lang="en-US" sz="3200" b="1" i="0" u="none" strike="noStrike" cap="none" dirty="0">
                <a:solidFill>
                  <a:srgbClr val="22201D"/>
                </a:solidFill>
                <a:latin typeface="IBM Plex Sans"/>
                <a:ea typeface="IBM Plex Sans"/>
                <a:cs typeface="IBM Plex Sans"/>
                <a:sym typeface="IBM Plex Sans"/>
              </a:rPr>
              <a:t> </a:t>
            </a:r>
            <a:r>
              <a:rPr lang="en-US" sz="3200" b="1" i="0" u="none" strike="noStrike" cap="none" dirty="0" err="1">
                <a:solidFill>
                  <a:srgbClr val="22201D"/>
                </a:solidFill>
                <a:latin typeface="IBM Plex Sans"/>
                <a:ea typeface="IBM Plex Sans"/>
                <a:cs typeface="IBM Plex Sans"/>
                <a:sym typeface="IBM Plex Sans"/>
              </a:rPr>
              <a:t>pendiente</a:t>
            </a:r>
            <a:endParaRPr sz="3200" b="0" i="0" u="none" strike="noStrike" cap="none" dirty="0">
              <a:solidFill>
                <a:schemeClr val="dk1"/>
              </a:solidFill>
              <a:latin typeface="Calibri"/>
              <a:ea typeface="Calibri"/>
              <a:cs typeface="Calibri"/>
              <a:sym typeface="Calibri"/>
            </a:endParaRPr>
          </a:p>
        </p:txBody>
      </p:sp>
      <p:sp>
        <p:nvSpPr>
          <p:cNvPr id="218" name="Google Shape;218;p16"/>
          <p:cNvSpPr/>
          <p:nvPr/>
        </p:nvSpPr>
        <p:spPr>
          <a:xfrm>
            <a:off x="815975" y="2124075"/>
            <a:ext cx="5149850" cy="1931670"/>
          </a:xfrm>
          <a:prstGeom prst="roundRect">
            <a:avLst>
              <a:gd name="adj" fmla="val 3780"/>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6"/>
          <p:cNvSpPr/>
          <p:nvPr/>
        </p:nvSpPr>
        <p:spPr>
          <a:xfrm>
            <a:off x="1071880" y="2379979"/>
            <a:ext cx="4777181" cy="299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2E5E94"/>
              </a:buClr>
              <a:buSzPts val="1800"/>
              <a:buFont typeface="IBM Plex Sans"/>
              <a:buNone/>
            </a:pPr>
            <a:r>
              <a:rPr lang="en-US" sz="1800" b="1" i="0" u="none" strike="noStrike" cap="none" dirty="0" err="1">
                <a:solidFill>
                  <a:srgbClr val="2E5E94"/>
                </a:solidFill>
                <a:latin typeface="IBM Plex Sans"/>
                <a:ea typeface="IBM Plex Sans"/>
                <a:cs typeface="IBM Plex Sans"/>
                <a:sym typeface="IBM Plex Sans"/>
              </a:rPr>
              <a:t>Decisiones</a:t>
            </a:r>
            <a:r>
              <a:rPr lang="en-US" sz="1800" b="1" i="0" u="none" strike="noStrike" cap="none" dirty="0">
                <a:solidFill>
                  <a:srgbClr val="2E5E94"/>
                </a:solidFill>
                <a:latin typeface="IBM Plex Sans"/>
                <a:ea typeface="IBM Plex Sans"/>
                <a:cs typeface="IBM Plex Sans"/>
                <a:sym typeface="IBM Plex Sans"/>
              </a:rPr>
              <a:t> </a:t>
            </a:r>
            <a:r>
              <a:rPr lang="en-US" sz="1800" b="1" i="0" u="none" strike="noStrike" cap="none" dirty="0" err="1">
                <a:solidFill>
                  <a:srgbClr val="2E5E94"/>
                </a:solidFill>
                <a:latin typeface="IBM Plex Sans"/>
                <a:ea typeface="IBM Plex Sans"/>
                <a:cs typeface="IBM Plex Sans"/>
                <a:sym typeface="IBM Plex Sans"/>
              </a:rPr>
              <a:t>tomadas</a:t>
            </a:r>
            <a:endParaRPr sz="1800" b="0" i="0" u="none" strike="noStrike" cap="none" dirty="0">
              <a:solidFill>
                <a:schemeClr val="dk1"/>
              </a:solidFill>
              <a:latin typeface="Calibri"/>
              <a:ea typeface="Calibri"/>
              <a:cs typeface="Calibri"/>
              <a:sym typeface="Calibri"/>
            </a:endParaRPr>
          </a:p>
        </p:txBody>
      </p:sp>
      <p:sp>
        <p:nvSpPr>
          <p:cNvPr id="220" name="Google Shape;220;p16"/>
          <p:cNvSpPr/>
          <p:nvPr/>
        </p:nvSpPr>
        <p:spPr>
          <a:xfrm>
            <a:off x="1150112" y="2768600"/>
            <a:ext cx="4691329" cy="1056640"/>
          </a:xfrm>
          <a:prstGeom prst="rect">
            <a:avLst/>
          </a:prstGeom>
          <a:noFill/>
          <a:ln>
            <a:noFill/>
          </a:ln>
        </p:spPr>
        <p:txBody>
          <a:bodyPr spcFirstLastPara="1" wrap="square" lIns="0" tIns="0" rIns="0" bIns="0" anchor="t" anchorCtr="0">
            <a:noAutofit/>
          </a:bodyPr>
          <a:lstStyle/>
          <a:p>
            <a:pPr marL="175768" marR="0" lvl="0" indent="-175768" algn="l" rtl="0">
              <a:lnSpc>
                <a:spcPct val="145000"/>
              </a:lnSpc>
              <a:spcBef>
                <a:spcPts val="0"/>
              </a:spcBef>
              <a:spcAft>
                <a:spcPts val="0"/>
              </a:spcAft>
              <a:buClr>
                <a:srgbClr val="22201D"/>
              </a:buClr>
              <a:buSzPts val="1400"/>
              <a:buFont typeface="IBM Plex Sans"/>
              <a:buChar char="•"/>
            </a:pPr>
            <a:r>
              <a:rPr lang="en-US" sz="1400" b="0" i="0" u="none" strike="noStrike" cap="none" dirty="0" err="1">
                <a:solidFill>
                  <a:srgbClr val="22201D"/>
                </a:solidFill>
                <a:latin typeface="IBM Plex Sans"/>
                <a:ea typeface="IBM Plex Sans"/>
                <a:cs typeface="IBM Plex Sans"/>
                <a:sym typeface="IBM Plex Sans"/>
              </a:rPr>
              <a:t>MLflow</a:t>
            </a:r>
            <a:r>
              <a:rPr lang="en-US" sz="1400" b="0" i="0" u="none" strike="noStrike" cap="none" dirty="0">
                <a:solidFill>
                  <a:srgbClr val="22201D"/>
                </a:solidFill>
                <a:latin typeface="IBM Plex Sans"/>
                <a:ea typeface="IBM Plex Sans"/>
                <a:cs typeface="IBM Plex Sans"/>
                <a:sym typeface="IBM Plex Sans"/>
              </a:rPr>
              <a:t> </a:t>
            </a:r>
            <a:r>
              <a:rPr lang="en-US" sz="1400" b="0" i="0" u="none" strike="noStrike" cap="none" dirty="0" err="1">
                <a:solidFill>
                  <a:srgbClr val="22201D"/>
                </a:solidFill>
                <a:latin typeface="IBM Plex Sans"/>
                <a:ea typeface="IBM Plex Sans"/>
                <a:cs typeface="IBM Plex Sans"/>
                <a:sym typeface="IBM Plex Sans"/>
              </a:rPr>
              <a:t>como</a:t>
            </a:r>
            <a:r>
              <a:rPr lang="en-US" sz="1400" b="0" i="0" u="none" strike="noStrike" cap="none" dirty="0">
                <a:solidFill>
                  <a:srgbClr val="22201D"/>
                </a:solidFill>
                <a:latin typeface="IBM Plex Sans"/>
                <a:ea typeface="IBM Plex Sans"/>
                <a:cs typeface="IBM Plex Sans"/>
                <a:sym typeface="IBM Plex Sans"/>
              </a:rPr>
              <a:t> </a:t>
            </a:r>
            <a:r>
              <a:rPr lang="en-US" sz="1400" b="0" i="0" u="none" strike="noStrike" cap="none" dirty="0" err="1">
                <a:solidFill>
                  <a:srgbClr val="22201D"/>
                </a:solidFill>
                <a:latin typeface="IBM Plex Sans"/>
                <a:ea typeface="IBM Plex Sans"/>
                <a:cs typeface="IBM Plex Sans"/>
                <a:sym typeface="IBM Plex Sans"/>
              </a:rPr>
              <a:t>único</a:t>
            </a:r>
            <a:r>
              <a:rPr lang="en-US" sz="1400" b="0" i="0" u="none" strike="noStrike" cap="none" dirty="0">
                <a:solidFill>
                  <a:srgbClr val="22201D"/>
                </a:solidFill>
                <a:latin typeface="IBM Plex Sans"/>
                <a:ea typeface="IBM Plex Sans"/>
                <a:cs typeface="IBM Plex Sans"/>
                <a:sym typeface="IBM Plex Sans"/>
              </a:rPr>
              <a:t> </a:t>
            </a:r>
            <a:r>
              <a:rPr lang="en-US" sz="1400" b="0" i="0" u="none" strike="noStrike" cap="none" dirty="0" err="1">
                <a:solidFill>
                  <a:srgbClr val="22201D"/>
                </a:solidFill>
                <a:latin typeface="IBM Plex Sans"/>
                <a:ea typeface="IBM Plex Sans"/>
                <a:cs typeface="IBM Plex Sans"/>
                <a:sym typeface="IBM Plex Sans"/>
              </a:rPr>
              <a:t>registro</a:t>
            </a:r>
            <a:r>
              <a:rPr lang="en-US" sz="1400" b="0" i="0" u="none" strike="noStrike" cap="none" dirty="0">
                <a:solidFill>
                  <a:srgbClr val="22201D"/>
                </a:solidFill>
                <a:latin typeface="IBM Plex Sans"/>
                <a:ea typeface="IBM Plex Sans"/>
                <a:cs typeface="IBM Plex Sans"/>
                <a:sym typeface="IBM Plex Sans"/>
              </a:rPr>
              <a:t> de </a:t>
            </a:r>
            <a:r>
              <a:rPr lang="en-US" sz="1400" b="0" i="0" u="none" strike="noStrike" cap="none" dirty="0" err="1">
                <a:solidFill>
                  <a:srgbClr val="22201D"/>
                </a:solidFill>
                <a:latin typeface="IBM Plex Sans"/>
                <a:ea typeface="IBM Plex Sans"/>
                <a:cs typeface="IBM Plex Sans"/>
                <a:sym typeface="IBM Plex Sans"/>
              </a:rPr>
              <a:t>modelos</a:t>
            </a:r>
            <a:endParaRPr sz="1400" b="0" i="0" u="none" strike="noStrike" cap="none" dirty="0">
              <a:solidFill>
                <a:schemeClr val="dk1"/>
              </a:solidFill>
              <a:latin typeface="Calibri"/>
              <a:ea typeface="Calibri"/>
              <a:cs typeface="Calibri"/>
              <a:sym typeface="Calibri"/>
            </a:endParaRPr>
          </a:p>
          <a:p>
            <a:pPr marL="175768" marR="0" lvl="0" indent="-175768" algn="l" rtl="0">
              <a:lnSpc>
                <a:spcPct val="145000"/>
              </a:lnSpc>
              <a:spcBef>
                <a:spcPts val="0"/>
              </a:spcBef>
              <a:spcAft>
                <a:spcPts val="0"/>
              </a:spcAft>
              <a:buClr>
                <a:srgbClr val="22201D"/>
              </a:buClr>
              <a:buSzPts val="1400"/>
              <a:buFont typeface="IBM Plex Sans"/>
              <a:buChar char="•"/>
            </a:pPr>
            <a:r>
              <a:rPr lang="en-US" sz="1400" b="0" i="0" u="none" strike="noStrike" cap="none" dirty="0">
                <a:solidFill>
                  <a:srgbClr val="22201D"/>
                </a:solidFill>
                <a:latin typeface="IBM Plex Sans"/>
                <a:ea typeface="IBM Plex Sans"/>
                <a:cs typeface="IBM Plex Sans"/>
                <a:sym typeface="IBM Plex Sans"/>
              </a:rPr>
              <a:t>REST </a:t>
            </a:r>
            <a:r>
              <a:rPr lang="en-US" sz="1400" b="0" i="0" u="none" strike="noStrike" cap="none" dirty="0" err="1">
                <a:solidFill>
                  <a:srgbClr val="22201D"/>
                </a:solidFill>
                <a:latin typeface="IBM Plex Sans"/>
                <a:ea typeface="IBM Plex Sans"/>
                <a:cs typeface="IBM Plex Sans"/>
                <a:sym typeface="IBM Plex Sans"/>
              </a:rPr>
              <a:t>reusada</a:t>
            </a:r>
            <a:r>
              <a:rPr lang="en-US" sz="1400" b="0" i="0" u="none" strike="noStrike" cap="none" dirty="0">
                <a:solidFill>
                  <a:srgbClr val="22201D"/>
                </a:solidFill>
                <a:latin typeface="IBM Plex Sans"/>
                <a:ea typeface="IBM Plex Sans"/>
                <a:cs typeface="IBM Plex Sans"/>
                <a:sym typeface="IBM Plex Sans"/>
              </a:rPr>
              <a:t> y </a:t>
            </a:r>
            <a:r>
              <a:rPr lang="en-US" sz="1400" b="0" i="0" u="none" strike="noStrike" cap="none" dirty="0" err="1">
                <a:solidFill>
                  <a:srgbClr val="22201D"/>
                </a:solidFill>
                <a:latin typeface="IBM Plex Sans"/>
                <a:ea typeface="IBM Plex Sans"/>
                <a:cs typeface="IBM Plex Sans"/>
                <a:sym typeface="IBM Plex Sans"/>
              </a:rPr>
              <a:t>envuelta</a:t>
            </a:r>
            <a:r>
              <a:rPr lang="en-US" sz="1400" b="0" i="0" u="none" strike="noStrike" cap="none" dirty="0">
                <a:solidFill>
                  <a:srgbClr val="22201D"/>
                </a:solidFill>
                <a:latin typeface="IBM Plex Sans"/>
                <a:ea typeface="IBM Plex Sans"/>
                <a:cs typeface="IBM Plex Sans"/>
                <a:sym typeface="IBM Plex Sans"/>
              </a:rPr>
              <a:t>, no </a:t>
            </a:r>
            <a:r>
              <a:rPr lang="en-US" sz="1400" b="0" i="0" u="none" strike="noStrike" cap="none" dirty="0" err="1">
                <a:solidFill>
                  <a:srgbClr val="22201D"/>
                </a:solidFill>
                <a:latin typeface="IBM Plex Sans"/>
                <a:ea typeface="IBM Plex Sans"/>
                <a:cs typeface="IBM Plex Sans"/>
                <a:sym typeface="IBM Plex Sans"/>
              </a:rPr>
              <a:t>reescrita</a:t>
            </a:r>
            <a:endParaRPr sz="1400" b="0" i="0" u="none" strike="noStrike" cap="none" dirty="0">
              <a:solidFill>
                <a:schemeClr val="dk1"/>
              </a:solidFill>
              <a:latin typeface="Calibri"/>
              <a:ea typeface="Calibri"/>
              <a:cs typeface="Calibri"/>
              <a:sym typeface="Calibri"/>
            </a:endParaRPr>
          </a:p>
          <a:p>
            <a:pPr marL="175768" marR="0" lvl="0" indent="-175768" algn="l" rtl="0">
              <a:lnSpc>
                <a:spcPct val="145000"/>
              </a:lnSpc>
              <a:spcBef>
                <a:spcPts val="0"/>
              </a:spcBef>
              <a:spcAft>
                <a:spcPts val="0"/>
              </a:spcAft>
              <a:buClr>
                <a:srgbClr val="22201D"/>
              </a:buClr>
              <a:buSzPts val="1400"/>
              <a:buFont typeface="IBM Plex Sans"/>
              <a:buChar char="•"/>
            </a:pPr>
            <a:r>
              <a:rPr lang="en-US" sz="1400" b="0" i="0" u="none" strike="noStrike" cap="none" dirty="0">
                <a:solidFill>
                  <a:srgbClr val="22201D"/>
                </a:solidFill>
                <a:latin typeface="IBM Plex Sans"/>
                <a:ea typeface="IBM Plex Sans"/>
                <a:cs typeface="IBM Plex Sans"/>
                <a:sym typeface="IBM Plex Sans"/>
              </a:rPr>
              <a:t>Un solo </a:t>
            </a:r>
            <a:r>
              <a:rPr lang="en-US" sz="1400" b="0" i="0" u="none" strike="noStrike" cap="none" dirty="0" err="1">
                <a:solidFill>
                  <a:srgbClr val="22201D"/>
                </a:solidFill>
                <a:latin typeface="IBM Plex Sans"/>
                <a:ea typeface="IBM Plex Sans"/>
                <a:cs typeface="IBM Plex Sans"/>
                <a:sym typeface="IBM Plex Sans"/>
              </a:rPr>
              <a:t>módulo</a:t>
            </a:r>
            <a:r>
              <a:rPr lang="en-US" sz="1400" b="0" i="0" u="none" strike="noStrike" cap="none" dirty="0">
                <a:solidFill>
                  <a:srgbClr val="22201D"/>
                </a:solidFill>
                <a:latin typeface="IBM Plex Sans"/>
                <a:ea typeface="IBM Plex Sans"/>
                <a:cs typeface="IBM Plex Sans"/>
                <a:sym typeface="IBM Plex Sans"/>
              </a:rPr>
              <a:t> de </a:t>
            </a:r>
            <a:r>
              <a:rPr lang="en-US" sz="1400" b="0" i="0" u="none" strike="noStrike" cap="none" dirty="0" err="1">
                <a:solidFill>
                  <a:srgbClr val="22201D"/>
                </a:solidFill>
                <a:latin typeface="IBM Plex Sans"/>
                <a:ea typeface="IBM Plex Sans"/>
                <a:cs typeface="IBM Plex Sans"/>
                <a:sym typeface="IBM Plex Sans"/>
              </a:rPr>
              <a:t>seguridad</a:t>
            </a:r>
            <a:r>
              <a:rPr lang="en-US" sz="1400" b="0" i="0" u="none" strike="noStrike" cap="none" dirty="0">
                <a:solidFill>
                  <a:srgbClr val="22201D"/>
                </a:solidFill>
                <a:latin typeface="IBM Plex Sans"/>
                <a:ea typeface="IBM Plex Sans"/>
                <a:cs typeface="IBM Plex Sans"/>
                <a:sym typeface="IBM Plex Sans"/>
              </a:rPr>
              <a:t> para las 4 </a:t>
            </a:r>
            <a:r>
              <a:rPr lang="en-US" sz="1400" b="0" i="0" u="none" strike="noStrike" cap="none" dirty="0" err="1">
                <a:solidFill>
                  <a:srgbClr val="22201D"/>
                </a:solidFill>
                <a:latin typeface="IBM Plex Sans"/>
                <a:ea typeface="IBM Plex Sans"/>
                <a:cs typeface="IBM Plex Sans"/>
                <a:sym typeface="IBM Plex Sans"/>
              </a:rPr>
              <a:t>capas</a:t>
            </a:r>
            <a:endParaRPr sz="1400" b="0" i="0" u="none" strike="noStrike" cap="none" dirty="0">
              <a:solidFill>
                <a:schemeClr val="dk1"/>
              </a:solidFill>
              <a:latin typeface="Calibri"/>
              <a:ea typeface="Calibri"/>
              <a:cs typeface="Calibri"/>
              <a:sym typeface="Calibri"/>
            </a:endParaRPr>
          </a:p>
          <a:p>
            <a:pPr marL="175768" marR="0" lvl="0" indent="-175768" algn="l" rtl="0">
              <a:lnSpc>
                <a:spcPct val="145000"/>
              </a:lnSpc>
              <a:spcBef>
                <a:spcPts val="0"/>
              </a:spcBef>
              <a:spcAft>
                <a:spcPts val="0"/>
              </a:spcAft>
              <a:buClr>
                <a:srgbClr val="22201D"/>
              </a:buClr>
              <a:buSzPts val="1400"/>
              <a:buFont typeface="IBM Plex Sans"/>
              <a:buChar char="•"/>
            </a:pPr>
            <a:r>
              <a:rPr lang="es-ES" sz="1400" b="0" i="0" u="none" strike="noStrike" cap="none" dirty="0">
                <a:solidFill>
                  <a:srgbClr val="22201D"/>
                </a:solidFill>
                <a:latin typeface="IBM Plex Sans"/>
                <a:ea typeface="IBM Plex Sans"/>
                <a:cs typeface="IBM Plex Sans"/>
                <a:sym typeface="IBM Plex Sans"/>
              </a:rPr>
              <a:t>Versiones fijas para que </a:t>
            </a:r>
            <a:r>
              <a:rPr lang="es-ES" sz="1400" b="0" i="0" u="none" strike="noStrike" cap="none" dirty="0" err="1">
                <a:solidFill>
                  <a:srgbClr val="22201D"/>
                </a:solidFill>
                <a:latin typeface="IBM Plex Sans"/>
                <a:ea typeface="IBM Plex Sans"/>
                <a:cs typeface="IBM Plex Sans"/>
                <a:sym typeface="IBM Plex Sans"/>
              </a:rPr>
              <a:t>MLflow</a:t>
            </a:r>
            <a:r>
              <a:rPr lang="es-ES" sz="1400" b="0" i="0" u="none" strike="noStrike" cap="none" dirty="0">
                <a:solidFill>
                  <a:srgbClr val="22201D"/>
                </a:solidFill>
                <a:latin typeface="IBM Plex Sans"/>
                <a:ea typeface="IBM Plex Sans"/>
                <a:cs typeface="IBM Plex Sans"/>
                <a:sym typeface="IBM Plex Sans"/>
              </a:rPr>
              <a:t>, </a:t>
            </a:r>
            <a:r>
              <a:rPr lang="es-ES" sz="1400" b="0" i="0" u="none" strike="noStrike" cap="none" dirty="0" err="1">
                <a:solidFill>
                  <a:srgbClr val="22201D"/>
                </a:solidFill>
                <a:latin typeface="IBM Plex Sans"/>
                <a:ea typeface="IBM Plex Sans"/>
                <a:cs typeface="IBM Plex Sans"/>
                <a:sym typeface="IBM Plex Sans"/>
              </a:rPr>
              <a:t>gRPC</a:t>
            </a:r>
            <a:r>
              <a:rPr lang="es-ES" sz="1400" b="0" i="0" u="none" strike="noStrike" cap="none" dirty="0">
                <a:solidFill>
                  <a:srgbClr val="22201D"/>
                </a:solidFill>
                <a:latin typeface="IBM Plex Sans"/>
                <a:ea typeface="IBM Plex Sans"/>
                <a:cs typeface="IBM Plex Sans"/>
                <a:sym typeface="IBM Plex Sans"/>
              </a:rPr>
              <a:t> y </a:t>
            </a:r>
            <a:r>
              <a:rPr lang="es-ES" sz="1400" b="0" i="0" u="none" strike="noStrike" cap="none" dirty="0" err="1">
                <a:solidFill>
                  <a:srgbClr val="22201D"/>
                </a:solidFill>
                <a:latin typeface="IBM Plex Sans"/>
                <a:ea typeface="IBM Plex Sans"/>
                <a:cs typeface="IBM Plex Sans"/>
                <a:sym typeface="IBM Plex Sans"/>
              </a:rPr>
              <a:t>Flower</a:t>
            </a:r>
            <a:r>
              <a:rPr lang="es-ES" sz="1400" b="0" i="0" u="none" strike="noStrike" cap="none" dirty="0">
                <a:solidFill>
                  <a:srgbClr val="22201D"/>
                </a:solidFill>
                <a:latin typeface="IBM Plex Sans"/>
                <a:ea typeface="IBM Plex Sans"/>
                <a:cs typeface="IBM Plex Sans"/>
                <a:sym typeface="IBM Plex Sans"/>
              </a:rPr>
              <a:t> convivan</a:t>
            </a:r>
            <a:endParaRPr sz="1400" b="0" i="0" u="none" strike="noStrike" cap="none" dirty="0">
              <a:solidFill>
                <a:schemeClr val="dk1"/>
              </a:solidFill>
              <a:latin typeface="Calibri"/>
              <a:ea typeface="Calibri"/>
              <a:cs typeface="Calibri"/>
              <a:sym typeface="Calibri"/>
            </a:endParaRPr>
          </a:p>
        </p:txBody>
      </p:sp>
      <p:sp>
        <p:nvSpPr>
          <p:cNvPr id="221" name="Google Shape;221;p16"/>
          <p:cNvSpPr/>
          <p:nvPr/>
        </p:nvSpPr>
        <p:spPr>
          <a:xfrm>
            <a:off x="6226175" y="2124075"/>
            <a:ext cx="5149850" cy="1931670"/>
          </a:xfrm>
          <a:prstGeom prst="roundRect">
            <a:avLst>
              <a:gd name="adj" fmla="val 3780"/>
            </a:avLst>
          </a:prstGeom>
          <a:solidFill>
            <a:srgbClr val="FFFFFF"/>
          </a:solidFill>
          <a:ln w="9525" cap="flat" cmpd="sng">
            <a:solidFill>
              <a:srgbClr val="DDD8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6"/>
          <p:cNvSpPr/>
          <p:nvPr/>
        </p:nvSpPr>
        <p:spPr>
          <a:xfrm>
            <a:off x="6482080" y="2379979"/>
            <a:ext cx="4777181" cy="299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9A4325"/>
              </a:buClr>
              <a:buSzPts val="1800"/>
              <a:buFont typeface="IBM Plex Sans"/>
              <a:buNone/>
            </a:pPr>
            <a:r>
              <a:rPr lang="en-US" sz="1800" b="1" i="0" u="none" strike="noStrike" cap="none">
                <a:solidFill>
                  <a:srgbClr val="9A4325"/>
                </a:solidFill>
                <a:latin typeface="IBM Plex Sans"/>
                <a:ea typeface="IBM Plex Sans"/>
                <a:cs typeface="IBM Plex Sans"/>
                <a:sym typeface="IBM Plex Sans"/>
              </a:rPr>
              <a:t>Límites conocidos</a:t>
            </a:r>
            <a:endParaRPr sz="1800" b="0" i="0" u="none" strike="noStrike" cap="none">
              <a:solidFill>
                <a:schemeClr val="dk1"/>
              </a:solidFill>
              <a:latin typeface="Calibri"/>
              <a:ea typeface="Calibri"/>
              <a:cs typeface="Calibri"/>
              <a:sym typeface="Calibri"/>
            </a:endParaRPr>
          </a:p>
        </p:txBody>
      </p:sp>
      <p:sp>
        <p:nvSpPr>
          <p:cNvPr id="223" name="Google Shape;223;p16"/>
          <p:cNvSpPr/>
          <p:nvPr/>
        </p:nvSpPr>
        <p:spPr>
          <a:xfrm>
            <a:off x="6560312" y="2768600"/>
            <a:ext cx="4691329" cy="1056640"/>
          </a:xfrm>
          <a:prstGeom prst="rect">
            <a:avLst/>
          </a:prstGeom>
          <a:noFill/>
          <a:ln>
            <a:noFill/>
          </a:ln>
        </p:spPr>
        <p:txBody>
          <a:bodyPr spcFirstLastPara="1" wrap="square" lIns="0" tIns="0" rIns="0" bIns="0" anchor="t" anchorCtr="0">
            <a:noAutofit/>
          </a:bodyPr>
          <a:lstStyle/>
          <a:p>
            <a:pPr marL="175768" marR="0" lvl="0" indent="-175768" algn="l" rtl="0">
              <a:lnSpc>
                <a:spcPct val="145000"/>
              </a:lnSpc>
              <a:spcBef>
                <a:spcPts val="0"/>
              </a:spcBef>
              <a:spcAft>
                <a:spcPts val="0"/>
              </a:spcAft>
              <a:buClr>
                <a:srgbClr val="22201D"/>
              </a:buClr>
              <a:buSzPts val="1400"/>
              <a:buFont typeface="IBM Plex Sans"/>
              <a:buChar char="•"/>
            </a:pPr>
            <a:r>
              <a:rPr lang="en-US" sz="1400" b="0" i="0" u="none" strike="noStrike" cap="none">
                <a:solidFill>
                  <a:srgbClr val="22201D"/>
                </a:solidFill>
                <a:latin typeface="IBM Plex Sans"/>
                <a:ea typeface="IBM Plex Sans"/>
                <a:cs typeface="IBM Plex Sans"/>
                <a:sym typeface="IBM Plex Sans"/>
              </a:rPr>
              <a:t>Federado sin agregación robusta ni usuario propio</a:t>
            </a:r>
            <a:endParaRPr sz="1400" b="0" i="0" u="none" strike="noStrike" cap="none">
              <a:solidFill>
                <a:schemeClr val="dk1"/>
              </a:solidFill>
              <a:latin typeface="Calibri"/>
              <a:ea typeface="Calibri"/>
              <a:cs typeface="Calibri"/>
              <a:sym typeface="Calibri"/>
            </a:endParaRPr>
          </a:p>
          <a:p>
            <a:pPr marL="175768" marR="0" lvl="0" indent="-175768" algn="l" rtl="0">
              <a:lnSpc>
                <a:spcPct val="145000"/>
              </a:lnSpc>
              <a:spcBef>
                <a:spcPts val="0"/>
              </a:spcBef>
              <a:spcAft>
                <a:spcPts val="0"/>
              </a:spcAft>
              <a:buClr>
                <a:srgbClr val="22201D"/>
              </a:buClr>
              <a:buSzPts val="1400"/>
              <a:buFont typeface="IBM Plex Sans"/>
              <a:buChar char="•"/>
            </a:pPr>
            <a:r>
              <a:rPr lang="en-US" sz="1400" b="0" i="0" u="none" strike="noStrike" cap="none">
                <a:solidFill>
                  <a:srgbClr val="22201D"/>
                </a:solidFill>
                <a:latin typeface="IBM Plex Sans"/>
                <a:ea typeface="IBM Plex Sans"/>
                <a:cs typeface="IBM Plex Sans"/>
                <a:sym typeface="IBM Plex Sans"/>
              </a:rPr>
              <a:t>MLflow y Airflow con minioadmin; MLflow sin login</a:t>
            </a:r>
            <a:endParaRPr sz="1400" b="0" i="0" u="none" strike="noStrike" cap="none">
              <a:solidFill>
                <a:schemeClr val="dk1"/>
              </a:solidFill>
              <a:latin typeface="Calibri"/>
              <a:ea typeface="Calibri"/>
              <a:cs typeface="Calibri"/>
              <a:sym typeface="Calibri"/>
            </a:endParaRPr>
          </a:p>
          <a:p>
            <a:pPr marL="175768" marR="0" lvl="0" indent="-175768" algn="l" rtl="0">
              <a:lnSpc>
                <a:spcPct val="145000"/>
              </a:lnSpc>
              <a:spcBef>
                <a:spcPts val="0"/>
              </a:spcBef>
              <a:spcAft>
                <a:spcPts val="0"/>
              </a:spcAft>
              <a:buClr>
                <a:srgbClr val="22201D"/>
              </a:buClr>
              <a:buSzPts val="1400"/>
              <a:buFont typeface="IBM Plex Sans"/>
              <a:buChar char="•"/>
            </a:pPr>
            <a:r>
              <a:rPr lang="en-US" sz="1400" b="0" i="0" u="none" strike="noStrike" cap="none">
                <a:solidFill>
                  <a:srgbClr val="22201D"/>
                </a:solidFill>
                <a:latin typeface="IBM Plex Sans"/>
                <a:ea typeface="IBM Plex Sans"/>
                <a:cs typeface="IBM Plex Sans"/>
                <a:sym typeface="IBM Plex Sans"/>
              </a:rPr>
              <a:t>Límite de pedidos solo en REST y en memoria</a:t>
            </a:r>
            <a:endParaRPr sz="1400" b="0" i="0" u="none" strike="noStrike" cap="none">
              <a:solidFill>
                <a:schemeClr val="dk1"/>
              </a:solidFill>
              <a:latin typeface="Calibri"/>
              <a:ea typeface="Calibri"/>
              <a:cs typeface="Calibri"/>
              <a:sym typeface="Calibri"/>
            </a:endParaRPr>
          </a:p>
          <a:p>
            <a:pPr marL="175768" marR="0" lvl="0" indent="-175768" algn="l" rtl="0">
              <a:lnSpc>
                <a:spcPct val="145000"/>
              </a:lnSpc>
              <a:spcBef>
                <a:spcPts val="0"/>
              </a:spcBef>
              <a:spcAft>
                <a:spcPts val="0"/>
              </a:spcAft>
              <a:buClr>
                <a:srgbClr val="22201D"/>
              </a:buClr>
              <a:buSzPts val="1400"/>
              <a:buFont typeface="IBM Plex Sans"/>
              <a:buChar char="•"/>
            </a:pPr>
            <a:r>
              <a:rPr lang="en-US" sz="1400" b="0" i="0" u="none" strike="noStrike" cap="none">
                <a:solidFill>
                  <a:srgbClr val="22201D"/>
                </a:solidFill>
                <a:latin typeface="IBM Plex Sans"/>
                <a:ea typeface="IBM Plex Sans"/>
                <a:cs typeface="IBM Plex Sans"/>
                <a:sym typeface="IBM Plex Sans"/>
              </a:rPr>
              <a:t>Secretos en un .env; sin mTLS en gRPC</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C1B19"/>
        </a:solidFill>
        <a:effectLst/>
      </p:bgPr>
    </p:bg>
    <p:spTree>
      <p:nvGrpSpPr>
        <p:cNvPr id="1" name="Shape 228"/>
        <p:cNvGrpSpPr/>
        <p:nvPr/>
      </p:nvGrpSpPr>
      <p:grpSpPr>
        <a:xfrm>
          <a:off x="0" y="0"/>
          <a:ext cx="0" cy="0"/>
          <a:chOff x="0" y="0"/>
          <a:chExt cx="0" cy="0"/>
        </a:xfrm>
      </p:grpSpPr>
      <p:sp>
        <p:nvSpPr>
          <p:cNvPr id="229" name="Google Shape;229;p17"/>
          <p:cNvSpPr/>
          <p:nvPr/>
        </p:nvSpPr>
        <p:spPr>
          <a:xfrm>
            <a:off x="654304" y="442932"/>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956F"/>
              </a:buClr>
              <a:buSzPts val="1400"/>
              <a:buFont typeface="JetBrains Mono"/>
              <a:buNone/>
            </a:pPr>
            <a:r>
              <a:rPr lang="en-US" sz="1400" b="0" i="0" u="none" strike="noStrike" cap="none" dirty="0">
                <a:solidFill>
                  <a:srgbClr val="E8956F"/>
                </a:solidFill>
                <a:latin typeface="JetBrains Mono"/>
                <a:ea typeface="JetBrains Mono"/>
                <a:cs typeface="JetBrains Mono"/>
                <a:sym typeface="JetBrains Mono"/>
              </a:rPr>
              <a:t>CIERRE</a:t>
            </a:r>
            <a:endParaRPr sz="1400" b="0" i="0" u="none" strike="noStrike" cap="none" dirty="0">
              <a:solidFill>
                <a:schemeClr val="dk1"/>
              </a:solidFill>
              <a:latin typeface="Calibri"/>
              <a:ea typeface="Calibri"/>
              <a:cs typeface="Calibri"/>
              <a:sym typeface="Calibri"/>
            </a:endParaRPr>
          </a:p>
        </p:txBody>
      </p:sp>
      <p:sp>
        <p:nvSpPr>
          <p:cNvPr id="230" name="Google Shape;230;p17"/>
          <p:cNvSpPr/>
          <p:nvPr/>
        </p:nvSpPr>
        <p:spPr>
          <a:xfrm>
            <a:off x="583659" y="980437"/>
            <a:ext cx="11342451" cy="3601291"/>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F2EFE8"/>
              </a:buClr>
              <a:buSzPts val="4800"/>
              <a:buFont typeface="IBM Plex Sans"/>
              <a:buNone/>
            </a:pPr>
            <a:r>
              <a:rPr lang="en-US" sz="2800" b="1" i="0" u="none" strike="noStrike" cap="none" dirty="0" err="1">
                <a:solidFill>
                  <a:srgbClr val="F2EFE8"/>
                </a:solidFill>
                <a:latin typeface="IBM Plex Sans"/>
                <a:ea typeface="IBM Plex Sans"/>
                <a:cs typeface="IBM Plex Sans"/>
                <a:sym typeface="IBM Plex Sans"/>
              </a:rPr>
              <a:t>Modelo</a:t>
            </a:r>
            <a:r>
              <a:rPr lang="en-US" sz="2800" b="1" i="0" u="none" strike="noStrike" cap="none" dirty="0">
                <a:solidFill>
                  <a:srgbClr val="F2EFE8"/>
                </a:solidFill>
                <a:latin typeface="IBM Plex Sans"/>
                <a:ea typeface="IBM Plex Sans"/>
                <a:cs typeface="IBM Plex Sans"/>
                <a:sym typeface="IBM Plex Sans"/>
              </a:rPr>
              <a:t> de </a:t>
            </a:r>
            <a:r>
              <a:rPr lang="en-US" sz="2800" b="1" i="0" u="none" strike="noStrike" cap="none" dirty="0" err="1">
                <a:solidFill>
                  <a:srgbClr val="F2EFE8"/>
                </a:solidFill>
                <a:latin typeface="IBM Plex Sans"/>
                <a:ea typeface="IBM Plex Sans"/>
                <a:cs typeface="IBM Plex Sans"/>
                <a:sym typeface="IBM Plex Sans"/>
              </a:rPr>
              <a:t>predicción</a:t>
            </a:r>
            <a:r>
              <a:rPr lang="en-US" sz="2800" b="1" i="0" u="none" strike="noStrike" cap="none" dirty="0">
                <a:solidFill>
                  <a:srgbClr val="F2EFE8"/>
                </a:solidFill>
                <a:latin typeface="IBM Plex Sans"/>
                <a:ea typeface="IBM Plex Sans"/>
                <a:cs typeface="IBM Plex Sans"/>
                <a:sym typeface="IBM Plex Sans"/>
              </a:rPr>
              <a:t> de </a:t>
            </a:r>
            <a:r>
              <a:rPr lang="en-US" sz="2800" b="1" i="0" u="none" strike="noStrike" cap="none" dirty="0" err="1">
                <a:solidFill>
                  <a:srgbClr val="F2EFE8"/>
                </a:solidFill>
                <a:latin typeface="IBM Plex Sans"/>
                <a:ea typeface="IBM Plex Sans"/>
                <a:cs typeface="IBM Plex Sans"/>
                <a:sym typeface="IBM Plex Sans"/>
              </a:rPr>
              <a:t>precios</a:t>
            </a:r>
            <a:r>
              <a:rPr lang="en-US" sz="2800" b="1" i="0" u="none" strike="noStrike" cap="none" dirty="0">
                <a:solidFill>
                  <a:srgbClr val="F2EFE8"/>
                </a:solidFill>
                <a:latin typeface="IBM Plex Sans"/>
                <a:ea typeface="IBM Plex Sans"/>
                <a:cs typeface="IBM Plex Sans"/>
                <a:sym typeface="IBM Plex Sans"/>
              </a:rPr>
              <a:t> de autos a</a:t>
            </a:r>
            <a:r>
              <a:rPr lang="es-ES" sz="2800" b="1" i="0" u="none" strike="noStrike" cap="none" dirty="0" err="1">
                <a:solidFill>
                  <a:srgbClr val="F2EFE8"/>
                </a:solidFill>
                <a:latin typeface="IBM Plex Sans"/>
                <a:ea typeface="IBM Plex Sans"/>
                <a:cs typeface="IBM Plex Sans"/>
                <a:sym typeface="IBM Plex Sans"/>
              </a:rPr>
              <a:t>ccesible</a:t>
            </a:r>
            <a:r>
              <a:rPr lang="es-ES" sz="2800" b="1" i="0" u="none" strike="noStrike" cap="none" dirty="0">
                <a:solidFill>
                  <a:srgbClr val="F2EFE8"/>
                </a:solidFill>
                <a:latin typeface="IBM Plex Sans"/>
                <a:ea typeface="IBM Plex Sans"/>
                <a:cs typeface="IBM Plex Sans"/>
                <a:sym typeface="IBM Plex Sans"/>
              </a:rPr>
              <a:t> desde</a:t>
            </a:r>
            <a:r>
              <a:rPr lang="en-US" sz="2800" b="1" i="0" u="none" strike="noStrike" cap="none" dirty="0">
                <a:solidFill>
                  <a:srgbClr val="F2EFE8"/>
                </a:solidFill>
                <a:latin typeface="IBM Plex Sans"/>
                <a:ea typeface="IBM Plex Sans"/>
                <a:cs typeface="IBM Plex Sans"/>
                <a:sym typeface="IBM Plex Sans"/>
              </a:rPr>
              <a:t>:</a:t>
            </a:r>
          </a:p>
          <a:p>
            <a:pPr lvl="4">
              <a:lnSpc>
                <a:spcPct val="110000"/>
              </a:lnSpc>
              <a:buClr>
                <a:srgbClr val="F2EFE8"/>
              </a:buClr>
              <a:buSzPts val="4800"/>
            </a:pPr>
            <a:r>
              <a:rPr lang="es-ES" sz="2000" b="1" dirty="0">
                <a:solidFill>
                  <a:srgbClr val="F2EFE8"/>
                </a:solidFill>
                <a:latin typeface="IBM Plex Sans"/>
                <a:ea typeface="IBM Plex Sans"/>
                <a:cs typeface="IBM Plex Sans"/>
                <a:sym typeface="IBM Plex Sans"/>
              </a:rPr>
              <a:t>	* </a:t>
            </a:r>
            <a:r>
              <a:rPr lang="es-ES" sz="2000" b="1" i="0" u="none" strike="noStrike" cap="none" dirty="0">
                <a:solidFill>
                  <a:srgbClr val="F2EFE8"/>
                </a:solidFill>
                <a:latin typeface="IBM Plex Sans"/>
                <a:ea typeface="IBM Plex Sans"/>
                <a:cs typeface="IBM Plex Sans"/>
                <a:sym typeface="IBM Plex Sans"/>
              </a:rPr>
              <a:t>REST API</a:t>
            </a:r>
          </a:p>
          <a:p>
            <a:pPr lvl="4">
              <a:lnSpc>
                <a:spcPct val="110000"/>
              </a:lnSpc>
              <a:buClr>
                <a:srgbClr val="F2EFE8"/>
              </a:buClr>
              <a:buSzPts val="4800"/>
            </a:pPr>
            <a:r>
              <a:rPr lang="es-ES" sz="2000" b="1" dirty="0">
                <a:solidFill>
                  <a:srgbClr val="F2EFE8"/>
                </a:solidFill>
                <a:latin typeface="IBM Plex Sans"/>
                <a:ea typeface="IBM Plex Sans"/>
                <a:cs typeface="IBM Plex Sans"/>
                <a:sym typeface="IBM Plex Sans"/>
              </a:rPr>
              <a:t>	* </a:t>
            </a:r>
            <a:r>
              <a:rPr lang="es-ES" sz="2000" b="1" i="0" u="none" strike="noStrike" cap="none" dirty="0" err="1">
                <a:solidFill>
                  <a:srgbClr val="F2EFE8"/>
                </a:solidFill>
                <a:latin typeface="IBM Plex Sans"/>
                <a:ea typeface="IBM Plex Sans"/>
                <a:cs typeface="IBM Plex Sans"/>
                <a:sym typeface="IBM Plex Sans"/>
              </a:rPr>
              <a:t>GraphQL</a:t>
            </a:r>
            <a:endParaRPr lang="es-ES" sz="2000" b="1" i="0" u="none" strike="noStrike" cap="none" dirty="0">
              <a:solidFill>
                <a:srgbClr val="F2EFE8"/>
              </a:solidFill>
              <a:latin typeface="IBM Plex Sans"/>
              <a:ea typeface="IBM Plex Sans"/>
              <a:cs typeface="IBM Plex Sans"/>
              <a:sym typeface="IBM Plex Sans"/>
            </a:endParaRPr>
          </a:p>
          <a:p>
            <a:pPr lvl="4">
              <a:lnSpc>
                <a:spcPct val="110000"/>
              </a:lnSpc>
              <a:buClr>
                <a:srgbClr val="F2EFE8"/>
              </a:buClr>
              <a:buSzPts val="4800"/>
            </a:pPr>
            <a:r>
              <a:rPr lang="es-ES" sz="2000" b="1" dirty="0">
                <a:solidFill>
                  <a:srgbClr val="F2EFE8"/>
                </a:solidFill>
                <a:latin typeface="IBM Plex Sans"/>
                <a:ea typeface="IBM Plex Sans"/>
                <a:cs typeface="IBM Plex Sans"/>
                <a:sym typeface="IBM Plex Sans"/>
              </a:rPr>
              <a:t>	* </a:t>
            </a:r>
            <a:r>
              <a:rPr lang="es-ES" sz="2000" b="1" i="0" u="none" strike="noStrike" cap="none" dirty="0" err="1">
                <a:solidFill>
                  <a:srgbClr val="F2EFE8"/>
                </a:solidFill>
                <a:latin typeface="IBM Plex Sans"/>
                <a:ea typeface="IBM Plex Sans"/>
                <a:cs typeface="IBM Plex Sans"/>
                <a:sym typeface="IBM Plex Sans"/>
              </a:rPr>
              <a:t>gRPC</a:t>
            </a:r>
            <a:r>
              <a:rPr lang="es-ES" sz="2000" b="1" i="0" u="none" strike="noStrike" cap="none" dirty="0">
                <a:solidFill>
                  <a:srgbClr val="F2EFE8"/>
                </a:solidFill>
                <a:latin typeface="IBM Plex Sans"/>
                <a:ea typeface="IBM Plex Sans"/>
                <a:cs typeface="IBM Plex Sans"/>
                <a:sym typeface="IBM Plex Sans"/>
              </a:rPr>
              <a:t> </a:t>
            </a:r>
          </a:p>
          <a:p>
            <a:pPr lvl="4">
              <a:lnSpc>
                <a:spcPct val="110000"/>
              </a:lnSpc>
              <a:buClr>
                <a:srgbClr val="F2EFE8"/>
              </a:buClr>
              <a:buSzPts val="4800"/>
            </a:pPr>
            <a:r>
              <a:rPr lang="es-ES" sz="2000" b="1" dirty="0">
                <a:solidFill>
                  <a:srgbClr val="F2EFE8"/>
                </a:solidFill>
                <a:latin typeface="IBM Plex Sans"/>
                <a:ea typeface="IBM Plex Sans"/>
                <a:cs typeface="IBM Plex Sans"/>
                <a:sym typeface="IBM Plex Sans"/>
              </a:rPr>
              <a:t>	* </a:t>
            </a:r>
            <a:r>
              <a:rPr lang="es-ES" sz="2000" b="1" i="0" u="none" strike="noStrike" cap="none" dirty="0" err="1">
                <a:solidFill>
                  <a:srgbClr val="F2EFE8"/>
                </a:solidFill>
                <a:latin typeface="IBM Plex Sans"/>
                <a:ea typeface="IBM Plex Sans"/>
                <a:cs typeface="IBM Plex Sans"/>
                <a:sym typeface="IBM Plex Sans"/>
              </a:rPr>
              <a:t>Streaming</a:t>
            </a:r>
            <a:r>
              <a:rPr lang="es-ES" sz="2800" b="1" i="0" u="none" strike="noStrike" cap="none" dirty="0">
                <a:solidFill>
                  <a:srgbClr val="F2EFE8"/>
                </a:solidFill>
                <a:latin typeface="IBM Plex Sans"/>
                <a:ea typeface="IBM Plex Sans"/>
                <a:cs typeface="IBM Plex Sans"/>
                <a:sym typeface="IBM Plex Sans"/>
              </a:rPr>
              <a:t> </a:t>
            </a:r>
          </a:p>
          <a:p>
            <a:pPr marL="0" marR="0" lvl="0" indent="0" algn="l" rtl="0">
              <a:lnSpc>
                <a:spcPct val="110000"/>
              </a:lnSpc>
              <a:spcBef>
                <a:spcPts val="0"/>
              </a:spcBef>
              <a:spcAft>
                <a:spcPts val="0"/>
              </a:spcAft>
              <a:buClr>
                <a:srgbClr val="F2EFE8"/>
              </a:buClr>
              <a:buSzPts val="4800"/>
              <a:buFont typeface="IBM Plex Sans"/>
              <a:buNone/>
            </a:pPr>
            <a:r>
              <a:rPr lang="es-ES" sz="2800" b="1" i="0" u="none" strike="noStrike" cap="none" dirty="0">
                <a:solidFill>
                  <a:srgbClr val="F2EFE8"/>
                </a:solidFill>
                <a:latin typeface="IBM Plex Sans"/>
                <a:ea typeface="IBM Plex Sans"/>
                <a:cs typeface="IBM Plex Sans"/>
                <a:sym typeface="IBM Plex Sans"/>
              </a:rPr>
              <a:t>con entrenamiento Federado</a:t>
            </a:r>
          </a:p>
          <a:p>
            <a:pPr marL="0" marR="0" lvl="0" indent="0" algn="l" rtl="0">
              <a:lnSpc>
                <a:spcPct val="110000"/>
              </a:lnSpc>
              <a:spcBef>
                <a:spcPts val="0"/>
              </a:spcBef>
              <a:spcAft>
                <a:spcPts val="0"/>
              </a:spcAft>
              <a:buClr>
                <a:srgbClr val="F2EFE8"/>
              </a:buClr>
              <a:buSzPts val="4800"/>
              <a:buFont typeface="IBM Plex Sans"/>
              <a:buNone/>
            </a:pPr>
            <a:r>
              <a:rPr lang="es-ES" sz="2800" b="1" dirty="0">
                <a:solidFill>
                  <a:srgbClr val="F2EFE8"/>
                </a:solidFill>
                <a:latin typeface="IBM Plex Sans"/>
                <a:ea typeface="IBM Plex Sans"/>
                <a:cs typeface="IBM Plex Sans"/>
                <a:sym typeface="IBM Plex Sans"/>
              </a:rPr>
              <a:t>Acceso y </a:t>
            </a:r>
            <a:r>
              <a:rPr lang="es-ES" sz="2800" b="1" dirty="0" err="1">
                <a:solidFill>
                  <a:srgbClr val="F2EFE8"/>
                </a:solidFill>
                <a:latin typeface="IBM Plex Sans"/>
                <a:ea typeface="IBM Plex Sans"/>
                <a:cs typeface="IBM Plex Sans"/>
                <a:sym typeface="IBM Plex Sans"/>
              </a:rPr>
              <a:t>b</a:t>
            </a:r>
            <a:r>
              <a:rPr lang="es-ES" sz="2800" b="1" i="0" u="none" strike="noStrike" cap="none" dirty="0" err="1">
                <a:solidFill>
                  <a:srgbClr val="F2EFE8"/>
                </a:solidFill>
                <a:latin typeface="IBM Plex Sans"/>
                <a:ea typeface="IBM Plex Sans"/>
                <a:cs typeface="IBM Plex Sans"/>
                <a:sym typeface="IBM Plex Sans"/>
              </a:rPr>
              <a:t>uckets</a:t>
            </a:r>
            <a:r>
              <a:rPr lang="es-ES" sz="2800" b="1" i="0" u="none" strike="noStrike" cap="none" dirty="0">
                <a:solidFill>
                  <a:srgbClr val="F2EFE8"/>
                </a:solidFill>
                <a:latin typeface="IBM Plex Sans"/>
                <a:ea typeface="IBM Plex Sans"/>
                <a:cs typeface="IBM Plex Sans"/>
                <a:sym typeface="IBM Plex Sans"/>
              </a:rPr>
              <a:t> en </a:t>
            </a:r>
            <a:r>
              <a:rPr lang="es-ES" sz="2800" b="1" i="0" u="none" strike="noStrike" cap="none" dirty="0" err="1">
                <a:solidFill>
                  <a:srgbClr val="F2EFE8"/>
                </a:solidFill>
                <a:latin typeface="IBM Plex Sans"/>
                <a:ea typeface="IBM Plex Sans"/>
                <a:cs typeface="IBM Plex Sans"/>
                <a:sym typeface="IBM Plex Sans"/>
              </a:rPr>
              <a:t>Datalake</a:t>
            </a:r>
            <a:r>
              <a:rPr lang="es-ES" sz="2800" b="1" i="0" u="none" strike="noStrike" cap="none" dirty="0">
                <a:solidFill>
                  <a:srgbClr val="F2EFE8"/>
                </a:solidFill>
                <a:latin typeface="IBM Plex Sans"/>
                <a:ea typeface="IBM Plex Sans"/>
                <a:cs typeface="IBM Plex Sans"/>
                <a:sym typeface="IBM Plex Sans"/>
              </a:rPr>
              <a:t> (</a:t>
            </a:r>
            <a:r>
              <a:rPr lang="es-ES" sz="2800" b="1" i="0" u="none" strike="noStrike" cap="none" dirty="0" err="1">
                <a:solidFill>
                  <a:srgbClr val="F2EFE8"/>
                </a:solidFill>
                <a:latin typeface="IBM Plex Sans"/>
                <a:ea typeface="IBM Plex Sans"/>
                <a:cs typeface="IBM Plex Sans"/>
                <a:sym typeface="IBM Plex Sans"/>
              </a:rPr>
              <a:t>MinIO</a:t>
            </a:r>
            <a:r>
              <a:rPr lang="es-ES" sz="2800" b="1" i="0" u="none" strike="noStrike" cap="none" dirty="0">
                <a:solidFill>
                  <a:srgbClr val="F2EFE8"/>
                </a:solidFill>
                <a:latin typeface="IBM Plex Sans"/>
                <a:ea typeface="IBM Plex Sans"/>
                <a:cs typeface="IBM Plex Sans"/>
                <a:sym typeface="IBM Plex Sans"/>
              </a:rPr>
              <a:t>)</a:t>
            </a:r>
          </a:p>
          <a:p>
            <a:pPr marL="0" marR="0" lvl="0" indent="0" algn="l" rtl="0">
              <a:lnSpc>
                <a:spcPct val="110000"/>
              </a:lnSpc>
              <a:spcBef>
                <a:spcPts val="0"/>
              </a:spcBef>
              <a:spcAft>
                <a:spcPts val="0"/>
              </a:spcAft>
              <a:buClr>
                <a:srgbClr val="F2EFE8"/>
              </a:buClr>
              <a:buSzPts val="4800"/>
              <a:buFont typeface="IBM Plex Sans"/>
              <a:buNone/>
            </a:pPr>
            <a:r>
              <a:rPr lang="es-ES" sz="2800" b="1" i="0" u="none" strike="noStrike" cap="none" dirty="0">
                <a:solidFill>
                  <a:srgbClr val="F2EFE8"/>
                </a:solidFill>
                <a:latin typeface="IBM Plex Sans"/>
                <a:ea typeface="IBM Plex Sans"/>
                <a:cs typeface="IBM Plex Sans"/>
                <a:sym typeface="IBM Plex Sans"/>
              </a:rPr>
              <a:t>Seguridad en todas las capas</a:t>
            </a:r>
          </a:p>
        </p:txBody>
      </p:sp>
      <p:sp>
        <p:nvSpPr>
          <p:cNvPr id="231" name="Google Shape;231;p17"/>
          <p:cNvSpPr/>
          <p:nvPr/>
        </p:nvSpPr>
        <p:spPr>
          <a:xfrm>
            <a:off x="583659" y="4686790"/>
            <a:ext cx="9156700" cy="665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C9C3B8"/>
              </a:buClr>
              <a:buSzPts val="1800"/>
              <a:buFont typeface="IBM Plex Sans"/>
              <a:buNone/>
            </a:pPr>
            <a:r>
              <a:rPr lang="en-US" sz="1800" b="0" i="0" u="none" strike="noStrike" cap="none" dirty="0">
                <a:solidFill>
                  <a:srgbClr val="C9C3B8"/>
                </a:solidFill>
                <a:latin typeface="IBM Plex Sans"/>
                <a:ea typeface="IBM Plex Sans"/>
                <a:cs typeface="IBM Plex Sans"/>
                <a:sym typeface="IBM Plex Sans"/>
              </a:rPr>
              <a:t>Todo </a:t>
            </a:r>
            <a:r>
              <a:rPr lang="en-US" sz="1800" b="0" i="0" u="none" strike="noStrike" cap="none" dirty="0" err="1">
                <a:solidFill>
                  <a:srgbClr val="C9C3B8"/>
                </a:solidFill>
                <a:latin typeface="IBM Plex Sans"/>
                <a:ea typeface="IBM Plex Sans"/>
                <a:cs typeface="IBM Plex Sans"/>
                <a:sym typeface="IBM Plex Sans"/>
              </a:rPr>
              <a:t>corre</a:t>
            </a:r>
            <a:r>
              <a:rPr lang="en-US" sz="1800" b="0" i="0" u="none" strike="noStrike" cap="none" dirty="0">
                <a:solidFill>
                  <a:srgbClr val="C9C3B8"/>
                </a:solidFill>
                <a:latin typeface="IBM Plex Sans"/>
                <a:ea typeface="IBM Plex Sans"/>
                <a:cs typeface="IBM Plex Sans"/>
                <a:sym typeface="IBM Plex Sans"/>
              </a:rPr>
              <a:t> con docker compose </a:t>
            </a:r>
            <a:r>
              <a:rPr lang="en-US" sz="1800" b="0" i="0" u="none" strike="noStrike" cap="none" dirty="0" err="1">
                <a:solidFill>
                  <a:srgbClr val="C9C3B8"/>
                </a:solidFill>
                <a:latin typeface="IBM Plex Sans"/>
                <a:ea typeface="IBM Plex Sans"/>
                <a:cs typeface="IBM Plex Sans"/>
                <a:sym typeface="IBM Plex Sans"/>
              </a:rPr>
              <a:t>sobre</a:t>
            </a:r>
            <a:r>
              <a:rPr lang="en-US" sz="1800" b="0" i="0" u="none" strike="noStrike" cap="none" dirty="0">
                <a:solidFill>
                  <a:srgbClr val="C9C3B8"/>
                </a:solidFill>
                <a:latin typeface="IBM Plex Sans"/>
                <a:ea typeface="IBM Plex Sans"/>
                <a:cs typeface="IBM Plex Sans"/>
                <a:sym typeface="IBM Plex Sans"/>
              </a:rPr>
              <a:t> </a:t>
            </a:r>
            <a:r>
              <a:rPr lang="en-US" sz="1800" b="0" i="0" u="none" strike="noStrike" cap="none" dirty="0" err="1">
                <a:solidFill>
                  <a:srgbClr val="C9C3B8"/>
                </a:solidFill>
                <a:latin typeface="IBM Plex Sans"/>
                <a:ea typeface="IBM Plex Sans"/>
                <a:cs typeface="IBM Plex Sans"/>
                <a:sym typeface="IBM Plex Sans"/>
              </a:rPr>
              <a:t>el</a:t>
            </a:r>
            <a:r>
              <a:rPr lang="en-US" sz="1800" b="0" i="0" u="none" strike="noStrike" cap="none" dirty="0">
                <a:solidFill>
                  <a:srgbClr val="C9C3B8"/>
                </a:solidFill>
                <a:latin typeface="IBM Plex Sans"/>
                <a:ea typeface="IBM Plex Sans"/>
                <a:cs typeface="IBM Plex Sans"/>
                <a:sym typeface="IBM Plex Sans"/>
              </a:rPr>
              <a:t> stack de </a:t>
            </a:r>
            <a:r>
              <a:rPr lang="en-US" sz="1800" b="0" i="0" u="none" strike="noStrike" cap="none" dirty="0" err="1">
                <a:solidFill>
                  <a:srgbClr val="C9C3B8"/>
                </a:solidFill>
                <a:latin typeface="IBM Plex Sans"/>
                <a:ea typeface="IBM Plex Sans"/>
                <a:cs typeface="IBM Plex Sans"/>
                <a:sym typeface="IBM Plex Sans"/>
              </a:rPr>
              <a:t>MLOps</a:t>
            </a:r>
            <a:r>
              <a:rPr lang="en-US" sz="1800" b="0" i="0" u="none" strike="noStrike" cap="none" dirty="0">
                <a:solidFill>
                  <a:srgbClr val="C9C3B8"/>
                </a:solidFill>
                <a:latin typeface="IBM Plex Sans"/>
                <a:ea typeface="IBM Plex Sans"/>
                <a:cs typeface="IBM Plex Sans"/>
                <a:sym typeface="IBM Plex Sans"/>
              </a:rPr>
              <a:t> 1, </a:t>
            </a:r>
          </a:p>
          <a:p>
            <a:pPr marL="0" marR="0" lvl="0" indent="0" algn="l" rtl="0">
              <a:lnSpc>
                <a:spcPct val="140000"/>
              </a:lnSpc>
              <a:spcBef>
                <a:spcPts val="0"/>
              </a:spcBef>
              <a:spcAft>
                <a:spcPts val="0"/>
              </a:spcAft>
              <a:buClr>
                <a:srgbClr val="C9C3B8"/>
              </a:buClr>
              <a:buSzPts val="1800"/>
              <a:buFont typeface="IBM Plex Sans"/>
              <a:buNone/>
            </a:pPr>
            <a:r>
              <a:rPr lang="en-US" sz="1800" b="0" i="0" u="none" strike="noStrike" cap="none" dirty="0">
                <a:solidFill>
                  <a:srgbClr val="C9C3B8"/>
                </a:solidFill>
                <a:latin typeface="IBM Plex Sans"/>
                <a:ea typeface="IBM Plex Sans"/>
                <a:cs typeface="IBM Plex Sans"/>
                <a:sym typeface="IBM Plex Sans"/>
              </a:rPr>
              <a:t>y </a:t>
            </a:r>
            <a:r>
              <a:rPr lang="en-US" sz="1800" b="0" i="0" u="none" strike="noStrike" cap="none" dirty="0" err="1">
                <a:solidFill>
                  <a:srgbClr val="C9C3B8"/>
                </a:solidFill>
                <a:latin typeface="IBM Plex Sans"/>
                <a:ea typeface="IBM Plex Sans"/>
                <a:cs typeface="IBM Plex Sans"/>
                <a:sym typeface="IBM Plex Sans"/>
              </a:rPr>
              <a:t>cada</a:t>
            </a:r>
            <a:r>
              <a:rPr lang="en-US" sz="1800" b="0" i="0" u="none" strike="noStrike" cap="none" dirty="0">
                <a:solidFill>
                  <a:srgbClr val="C9C3B8"/>
                </a:solidFill>
                <a:latin typeface="IBM Plex Sans"/>
                <a:ea typeface="IBM Plex Sans"/>
                <a:cs typeface="IBM Plex Sans"/>
                <a:sym typeface="IBM Plex Sans"/>
              </a:rPr>
              <a:t> paso </a:t>
            </a:r>
            <a:r>
              <a:rPr lang="en-US" sz="1800" b="0" i="0" u="none" strike="noStrike" cap="none" dirty="0" err="1">
                <a:solidFill>
                  <a:srgbClr val="C9C3B8"/>
                </a:solidFill>
                <a:latin typeface="IBM Plex Sans"/>
                <a:ea typeface="IBM Plex Sans"/>
                <a:cs typeface="IBM Plex Sans"/>
                <a:sym typeface="IBM Plex Sans"/>
              </a:rPr>
              <a:t>está</a:t>
            </a:r>
            <a:r>
              <a:rPr lang="en-US" sz="1800" b="0" i="0" u="none" strike="noStrike" cap="none" dirty="0">
                <a:solidFill>
                  <a:srgbClr val="C9C3B8"/>
                </a:solidFill>
                <a:latin typeface="IBM Plex Sans"/>
                <a:ea typeface="IBM Plex Sans"/>
                <a:cs typeface="IBM Plex Sans"/>
                <a:sym typeface="IBM Plex Sans"/>
              </a:rPr>
              <a:t> </a:t>
            </a:r>
            <a:r>
              <a:rPr lang="en-US" sz="1800" b="0" i="0" u="none" strike="noStrike" cap="none" dirty="0" err="1">
                <a:solidFill>
                  <a:srgbClr val="C9C3B8"/>
                </a:solidFill>
                <a:latin typeface="IBM Plex Sans"/>
                <a:ea typeface="IBM Plex Sans"/>
                <a:cs typeface="IBM Plex Sans"/>
                <a:sym typeface="IBM Plex Sans"/>
              </a:rPr>
              <a:t>documentado</a:t>
            </a:r>
            <a:r>
              <a:rPr lang="en-US" sz="1800" b="0" i="0" u="none" strike="noStrike" cap="none" dirty="0">
                <a:solidFill>
                  <a:srgbClr val="C9C3B8"/>
                </a:solidFill>
                <a:latin typeface="IBM Plex Sans"/>
                <a:ea typeface="IBM Plex Sans"/>
                <a:cs typeface="IBM Plex Sans"/>
                <a:sym typeface="IBM Plex Sans"/>
              </a:rPr>
              <a:t> </a:t>
            </a:r>
            <a:r>
              <a:rPr lang="en-US" sz="1800" b="0" i="0" u="none" strike="noStrike" cap="none" dirty="0" err="1">
                <a:solidFill>
                  <a:srgbClr val="C9C3B8"/>
                </a:solidFill>
                <a:latin typeface="IBM Plex Sans"/>
                <a:ea typeface="IBM Plex Sans"/>
                <a:cs typeface="IBM Plex Sans"/>
                <a:sym typeface="IBM Plex Sans"/>
              </a:rPr>
              <a:t>en</a:t>
            </a:r>
            <a:r>
              <a:rPr lang="en-US" sz="1800" b="0" i="0" u="none" strike="noStrike" cap="none" dirty="0">
                <a:solidFill>
                  <a:srgbClr val="C9C3B8"/>
                </a:solidFill>
                <a:latin typeface="IBM Plex Sans"/>
                <a:ea typeface="IBM Plex Sans"/>
                <a:cs typeface="IBM Plex Sans"/>
                <a:sym typeface="IBM Plex Sans"/>
              </a:rPr>
              <a:t> </a:t>
            </a:r>
            <a:r>
              <a:rPr lang="en-US" sz="1800" b="0" i="0" u="none" strike="noStrike" cap="none" dirty="0" err="1">
                <a:solidFill>
                  <a:srgbClr val="C9C3B8"/>
                </a:solidFill>
                <a:latin typeface="IBM Plex Sans"/>
                <a:ea typeface="IBM Plex Sans"/>
                <a:cs typeface="IBM Plex Sans"/>
                <a:sym typeface="IBM Plex Sans"/>
              </a:rPr>
              <a:t>el</a:t>
            </a:r>
            <a:r>
              <a:rPr lang="en-US" sz="1800" b="0" i="0" u="none" strike="noStrike" cap="none" dirty="0">
                <a:solidFill>
                  <a:srgbClr val="C9C3B8"/>
                </a:solidFill>
                <a:latin typeface="IBM Plex Sans"/>
                <a:ea typeface="IBM Plex Sans"/>
                <a:cs typeface="IBM Plex Sans"/>
                <a:sym typeface="IBM Plex Sans"/>
              </a:rPr>
              <a:t> README del </a:t>
            </a:r>
            <a:r>
              <a:rPr lang="en-US" sz="1800" b="0" i="0" u="none" strike="noStrike" cap="none" dirty="0" err="1">
                <a:solidFill>
                  <a:srgbClr val="C9C3B8"/>
                </a:solidFill>
                <a:latin typeface="IBM Plex Sans"/>
                <a:ea typeface="IBM Plex Sans"/>
                <a:cs typeface="IBM Plex Sans"/>
                <a:sym typeface="IBM Plex Sans"/>
              </a:rPr>
              <a:t>repositorio</a:t>
            </a:r>
            <a:r>
              <a:rPr lang="en-US" sz="1800" b="0" i="0" u="none" strike="noStrike" cap="none" dirty="0">
                <a:solidFill>
                  <a:srgbClr val="C9C3B8"/>
                </a:solidFill>
                <a:latin typeface="IBM Plex Sans"/>
                <a:ea typeface="IBM Plex Sans"/>
                <a:cs typeface="IBM Plex Sans"/>
                <a:sym typeface="IBM Plex Sans"/>
              </a:rPr>
              <a:t>.</a:t>
            </a:r>
            <a:endParaRPr sz="1800" b="0" i="0" u="none" strike="noStrike" cap="none" dirty="0">
              <a:solidFill>
                <a:schemeClr val="dk1"/>
              </a:solidFill>
              <a:latin typeface="Calibri"/>
              <a:ea typeface="Calibri"/>
              <a:cs typeface="Calibri"/>
              <a:sym typeface="Calibri"/>
            </a:endParaRPr>
          </a:p>
        </p:txBody>
      </p:sp>
      <p:sp>
        <p:nvSpPr>
          <p:cNvPr id="232" name="Google Shape;232;p17"/>
          <p:cNvSpPr/>
          <p:nvPr/>
        </p:nvSpPr>
        <p:spPr>
          <a:xfrm>
            <a:off x="583659" y="5748469"/>
            <a:ext cx="4284493" cy="380186"/>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2EFE8"/>
              </a:buClr>
              <a:buSzPts val="1600"/>
              <a:buFont typeface="JetBrains Mono"/>
              <a:buNone/>
            </a:pPr>
            <a:r>
              <a:rPr lang="en-US" sz="1600" b="0" i="0" u="none" strike="noStrike" cap="none" dirty="0">
                <a:solidFill>
                  <a:srgbClr val="F2EFE8"/>
                </a:solidFill>
                <a:latin typeface="JetBrains Mono"/>
                <a:ea typeface="JetBrains Mono"/>
                <a:cs typeface="JetBrains Mono"/>
                <a:sym typeface="JetBrains Mono"/>
              </a:rPr>
              <a:t>github.com/</a:t>
            </a:r>
            <a:r>
              <a:rPr lang="en-US" sz="1600" b="0" i="0" u="none" strike="noStrike" cap="none" dirty="0" err="1">
                <a:solidFill>
                  <a:srgbClr val="F2EFE8"/>
                </a:solidFill>
                <a:latin typeface="JetBrains Mono"/>
                <a:ea typeface="JetBrains Mono"/>
                <a:cs typeface="JetBrains Mono"/>
                <a:sym typeface="JetBrains Mono"/>
              </a:rPr>
              <a:t>dichiazzar</a:t>
            </a:r>
            <a:r>
              <a:rPr lang="en-US" sz="1600" b="0" i="0" u="none" strike="noStrike" cap="none" dirty="0">
                <a:solidFill>
                  <a:srgbClr val="F2EFE8"/>
                </a:solidFill>
                <a:latin typeface="JetBrains Mono"/>
                <a:ea typeface="JetBrains Mono"/>
                <a:cs typeface="JetBrains Mono"/>
                <a:sym typeface="JetBrains Mono"/>
              </a:rPr>
              <a:t>/MLOps2</a:t>
            </a:r>
            <a:endParaRPr sz="1600" b="0" i="0" u="none" strike="noStrike" cap="none" dirty="0">
              <a:solidFill>
                <a:schemeClr val="dk1"/>
              </a:solidFill>
              <a:latin typeface="Calibri"/>
              <a:ea typeface="Calibri"/>
              <a:cs typeface="Calibri"/>
              <a:sym typeface="Calibri"/>
            </a:endParaRPr>
          </a:p>
        </p:txBody>
      </p:sp>
      <p:sp>
        <p:nvSpPr>
          <p:cNvPr id="233" name="Google Shape;233;p17"/>
          <p:cNvSpPr/>
          <p:nvPr/>
        </p:nvSpPr>
        <p:spPr>
          <a:xfrm>
            <a:off x="7323850" y="6128655"/>
            <a:ext cx="1824747" cy="4165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E8956F"/>
              </a:buClr>
              <a:buSzPts val="2200"/>
              <a:buFont typeface="IBM Plex Sans"/>
              <a:buNone/>
            </a:pPr>
            <a:r>
              <a:rPr lang="en-US" sz="2200" b="1" i="0" u="none" strike="noStrike" cap="none" dirty="0">
                <a:solidFill>
                  <a:srgbClr val="E8956F"/>
                </a:solidFill>
                <a:latin typeface="IBM Plex Sans"/>
                <a:ea typeface="IBM Plex Sans"/>
                <a:cs typeface="IBM Plex Sans"/>
                <a:sym typeface="IBM Plex Sans"/>
              </a:rPr>
              <a:t>¿</a:t>
            </a:r>
            <a:r>
              <a:rPr lang="en-US" sz="2200" b="1" i="0" u="none" strike="noStrike" cap="none" dirty="0" err="1">
                <a:solidFill>
                  <a:srgbClr val="E8956F"/>
                </a:solidFill>
                <a:latin typeface="IBM Plex Sans"/>
                <a:ea typeface="IBM Plex Sans"/>
                <a:cs typeface="IBM Plex Sans"/>
                <a:sym typeface="IBM Plex Sans"/>
              </a:rPr>
              <a:t>Preguntas</a:t>
            </a:r>
            <a:r>
              <a:rPr lang="en-US" sz="2200" b="1" i="0" u="none" strike="noStrike" cap="none" dirty="0">
                <a:solidFill>
                  <a:srgbClr val="E8956F"/>
                </a:solidFill>
                <a:latin typeface="IBM Plex Sans"/>
                <a:ea typeface="IBM Plex Sans"/>
                <a:cs typeface="IBM Plex Sans"/>
                <a:sym typeface="IBM Plex Sans"/>
              </a:rPr>
              <a:t>?</a:t>
            </a:r>
            <a:endParaRPr sz="22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3042</Words>
  <Application>Microsoft Office PowerPoint</Application>
  <PresentationFormat>Widescreen</PresentationFormat>
  <Paragraphs>230</Paragraphs>
  <Slides>15</Slides>
  <Notes>15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IBM Plex Sans</vt:lpstr>
      <vt:lpstr>Arial</vt:lpstr>
      <vt:lpstr>Calibri</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Rodolfo invitado</cp:lastModifiedBy>
  <cp:revision>8</cp:revision>
  <dcterms:modified xsi:type="dcterms:W3CDTF">2026-10-12T04:11:22Z</dcterms:modified>
</cp:coreProperties>
</file>